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9" r:id="rId1"/>
  </p:sldMasterIdLst>
  <p:notesMasterIdLst>
    <p:notesMasterId r:id="rId21"/>
  </p:notesMasterIdLst>
  <p:sldIdLst>
    <p:sldId id="256" r:id="rId2"/>
    <p:sldId id="257" r:id="rId3"/>
    <p:sldId id="263" r:id="rId4"/>
    <p:sldId id="258" r:id="rId5"/>
    <p:sldId id="259" r:id="rId6"/>
    <p:sldId id="264" r:id="rId7"/>
    <p:sldId id="265" r:id="rId8"/>
    <p:sldId id="267" r:id="rId9"/>
    <p:sldId id="266" r:id="rId10"/>
    <p:sldId id="270" r:id="rId11"/>
    <p:sldId id="278" r:id="rId12"/>
    <p:sldId id="269" r:id="rId13"/>
    <p:sldId id="277" r:id="rId14"/>
    <p:sldId id="271" r:id="rId15"/>
    <p:sldId id="275" r:id="rId16"/>
    <p:sldId id="276" r:id="rId17"/>
    <p:sldId id="272" r:id="rId18"/>
    <p:sldId id="268" r:id="rId19"/>
    <p:sldId id="27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4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C19323-1296-4993-BB40-E70C41726C94}" type="datetimeFigureOut">
              <a:rPr lang="es-ES" smtClean="0"/>
              <a:t>01/06/2018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44B5B7-9CB4-4C98-A88F-881D47A5C8C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55087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4BE75B-7878-40F8-B621-02D0CE572300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288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92DB58D-50C4-44CA-AF81-34C0C35C7CEF}" type="datetimeFigureOut">
              <a:rPr lang="es-ES" smtClean="0"/>
              <a:t>01/06/2018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33DF7BE-8BDF-4236-8FF2-E6ACB0C7B1E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8411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DB58D-50C4-44CA-AF81-34C0C35C7CEF}" type="datetimeFigureOut">
              <a:rPr lang="es-ES" smtClean="0"/>
              <a:t>01/06/2018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233DF7BE-8BDF-4236-8FF2-E6ACB0C7B1E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84840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92DB58D-50C4-44CA-AF81-34C0C35C7CEF}" type="datetimeFigureOut">
              <a:rPr lang="es-ES" smtClean="0"/>
              <a:t>01/06/2018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33DF7BE-8BDF-4236-8FF2-E6ACB0C7B1E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0264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DB58D-50C4-44CA-AF81-34C0C35C7CEF}" type="datetimeFigureOut">
              <a:rPr lang="es-ES" smtClean="0"/>
              <a:t>01/06/2018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DF7BE-8BDF-4236-8FF2-E6ACB0C7B1E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1937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DB58D-50C4-44CA-AF81-34C0C35C7CEF}" type="datetimeFigureOut">
              <a:rPr lang="es-ES" smtClean="0"/>
              <a:t>01/06/2018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DF7BE-8BDF-4236-8FF2-E6ACB0C7B1E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8808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DB58D-50C4-44CA-AF81-34C0C35C7CEF}" type="datetimeFigureOut">
              <a:rPr lang="es-ES" smtClean="0"/>
              <a:t>01/06/2018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DF7BE-8BDF-4236-8FF2-E6ACB0C7B1E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0629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DB58D-50C4-44CA-AF81-34C0C35C7CEF}" type="datetimeFigureOut">
              <a:rPr lang="es-ES" smtClean="0"/>
              <a:t>01/06/2018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DF7BE-8BDF-4236-8FF2-E6ACB0C7B1E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6745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92DB58D-50C4-44CA-AF81-34C0C35C7CEF}" type="datetimeFigureOut">
              <a:rPr lang="es-ES" smtClean="0"/>
              <a:t>01/06/2018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33DF7BE-8BDF-4236-8FF2-E6ACB0C7B1E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2335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DB58D-50C4-44CA-AF81-34C0C35C7CEF}" type="datetimeFigureOut">
              <a:rPr lang="es-ES" smtClean="0"/>
              <a:t>01/06/2018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DF7BE-8BDF-4236-8FF2-E6ACB0C7B1E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9130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DB58D-50C4-44CA-AF81-34C0C35C7CEF}" type="datetimeFigureOut">
              <a:rPr lang="es-ES" smtClean="0"/>
              <a:t>01/06/2018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DF7BE-8BDF-4236-8FF2-E6ACB0C7B1E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4501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92DB58D-50C4-44CA-AF81-34C0C35C7CEF}" type="datetimeFigureOut">
              <a:rPr lang="es-ES" smtClean="0"/>
              <a:t>01/06/2018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33DF7BE-8BDF-4236-8FF2-E6ACB0C7B1E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2085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A92DB58D-50C4-44CA-AF81-34C0C35C7CEF}" type="datetimeFigureOut">
              <a:rPr lang="es-ES" smtClean="0"/>
              <a:t>01/06/2018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233DF7BE-8BDF-4236-8FF2-E6ACB0C7B1E3}" type="slidenum">
              <a:rPr lang="es-ES" smtClean="0"/>
              <a:t>‹#›</a:t>
            </a:fld>
            <a:endParaRPr lang="es-E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08744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pages.vaadin.com/vaadin-vs-angular" TargetMode="Externa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vaadin.com/api/valo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hyperlink" Target="https://vaadin.com/directory#!addon/responsive-layout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openweathermap.org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Resultado de imagen de alcazaba de malaga">
            <a:extLst>
              <a:ext uri="{FF2B5EF4-FFF2-40B4-BE49-F238E27FC236}">
                <a16:creationId xmlns:a16="http://schemas.microsoft.com/office/drawing/2014/main" id="{D65D69DD-DF3E-4DCD-8712-B3A86E5E3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8855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0D23D2-CDF9-4F04-B99F-0B4BAAB040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8719518" cy="1475013"/>
          </a:xfrm>
        </p:spPr>
        <p:txBody>
          <a:bodyPr>
            <a:normAutofit/>
          </a:bodyPr>
          <a:lstStyle/>
          <a:p>
            <a:r>
              <a:rPr lang="es-ES_tradnl" dirty="0"/>
              <a:t>DESARROLLA APLICACIONES WEB SIN USAR HTML ni JAVASCRIPT</a:t>
            </a:r>
            <a:endParaRPr lang="es-ES" dirty="0"/>
          </a:p>
        </p:txBody>
      </p:sp>
      <p:pic>
        <p:nvPicPr>
          <p:cNvPr id="1026" name="Picture 2" descr="Resultado de imagen de accenture technology logo png">
            <a:extLst>
              <a:ext uri="{FF2B5EF4-FFF2-40B4-BE49-F238E27FC236}">
                <a16:creationId xmlns:a16="http://schemas.microsoft.com/office/drawing/2014/main" id="{459F7FBE-6094-4E01-BEB2-10F872844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74" y="1475013"/>
            <a:ext cx="2946400" cy="513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ogo osc">
            <a:extLst>
              <a:ext uri="{FF2B5EF4-FFF2-40B4-BE49-F238E27FC236}">
                <a16:creationId xmlns:a16="http://schemas.microsoft.com/office/drawing/2014/main" id="{FE977D87-3815-40FA-A323-F93B441F3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74" y="1988715"/>
            <a:ext cx="1874011" cy="882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4460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E0985-B3DA-4994-9BE2-1A9EF84C6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bIO</a:t>
            </a:r>
            <a:endParaRPr lang="es-E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294621-3498-4632-9180-BB0AC4E656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40" y="2871046"/>
            <a:ext cx="2729325" cy="272932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75B2BB-BEE6-46FE-8836-8496053F2EA4}"/>
              </a:ext>
            </a:extLst>
          </p:cNvPr>
          <p:cNvSpPr txBox="1"/>
          <p:nvPr/>
        </p:nvSpPr>
        <p:spPr>
          <a:xfrm>
            <a:off x="4195482" y="2770094"/>
            <a:ext cx="714038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600" dirty="0"/>
              <a:t>Rafa Molina</a:t>
            </a:r>
          </a:p>
          <a:p>
            <a:r>
              <a:rPr lang="es-ES" sz="2600" dirty="0"/>
              <a:t>Senior </a:t>
            </a:r>
            <a:r>
              <a:rPr lang="es-ES" sz="2600"/>
              <a:t>Analyst@</a:t>
            </a:r>
            <a:r>
              <a:rPr lang="es-ES" sz="2600" dirty="0" err="1"/>
              <a:t>Accenture</a:t>
            </a:r>
            <a:r>
              <a:rPr lang="es-ES" sz="2600" dirty="0"/>
              <a:t> </a:t>
            </a:r>
            <a:r>
              <a:rPr lang="es-ES" sz="2600" dirty="0" err="1"/>
              <a:t>Technology</a:t>
            </a:r>
            <a:endParaRPr lang="es-ES" sz="2600" dirty="0"/>
          </a:p>
        </p:txBody>
      </p:sp>
      <p:pic>
        <p:nvPicPr>
          <p:cNvPr id="1026" name="Picture 2" descr="Resultado de imagen de gmail icon png">
            <a:extLst>
              <a:ext uri="{FF2B5EF4-FFF2-40B4-BE49-F238E27FC236}">
                <a16:creationId xmlns:a16="http://schemas.microsoft.com/office/drawing/2014/main" id="{D1932EC1-B919-4489-88A4-00E7715498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8572" y="3743822"/>
            <a:ext cx="542363" cy="542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A49941-19D4-434A-8D8F-E7C870423502}"/>
              </a:ext>
            </a:extLst>
          </p:cNvPr>
          <p:cNvSpPr txBox="1"/>
          <p:nvPr/>
        </p:nvSpPr>
        <p:spPr>
          <a:xfrm>
            <a:off x="5163671" y="3801966"/>
            <a:ext cx="32810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/>
              <a:t>cloud4dev@gmail.com</a:t>
            </a:r>
          </a:p>
        </p:txBody>
      </p:sp>
      <p:pic>
        <p:nvPicPr>
          <p:cNvPr id="1028" name="Picture 4" descr="Resultado de imagen de twitter icon">
            <a:extLst>
              <a:ext uri="{FF2B5EF4-FFF2-40B4-BE49-F238E27FC236}">
                <a16:creationId xmlns:a16="http://schemas.microsoft.com/office/drawing/2014/main" id="{F5D7F64B-C0BE-4096-927B-749F2EC41E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0190" y="4351070"/>
            <a:ext cx="655016" cy="655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2F54B66-6F77-4088-B9FF-FCA551EF698A}"/>
              </a:ext>
            </a:extLst>
          </p:cNvPr>
          <p:cNvSpPr txBox="1"/>
          <p:nvPr/>
        </p:nvSpPr>
        <p:spPr>
          <a:xfrm>
            <a:off x="5163671" y="4463134"/>
            <a:ext cx="32810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/>
              <a:t>@cloud4dev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4D05F37-E910-445E-81BA-CABB75B507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0934" y="5026843"/>
            <a:ext cx="573528" cy="57352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685630D-4CB5-49B1-9ABD-81F4420D3089}"/>
              </a:ext>
            </a:extLst>
          </p:cNvPr>
          <p:cNvSpPr txBox="1"/>
          <p:nvPr/>
        </p:nvSpPr>
        <p:spPr>
          <a:xfrm>
            <a:off x="5163671" y="5098163"/>
            <a:ext cx="32810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/>
              <a:t>cloud4dev</a:t>
            </a:r>
          </a:p>
        </p:txBody>
      </p:sp>
    </p:spTree>
    <p:extLst>
      <p:ext uri="{BB962C8B-B14F-4D97-AF65-F5344CB8AC3E}">
        <p14:creationId xmlns:p14="http://schemas.microsoft.com/office/powerpoint/2010/main" val="1757960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E0985-B3DA-4994-9BE2-1A9EF84C6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Otras charlas de Accenture </a:t>
            </a:r>
            <a:r>
              <a:rPr lang="es-ES_tradnl" dirty="0" err="1"/>
              <a:t>technology</a:t>
            </a:r>
            <a:endParaRPr lang="es-E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3B3B475-74E3-4F7F-9245-2E25874B04D8}"/>
              </a:ext>
            </a:extLst>
          </p:cNvPr>
          <p:cNvGrpSpPr/>
          <p:nvPr/>
        </p:nvGrpSpPr>
        <p:grpSpPr>
          <a:xfrm>
            <a:off x="1638635" y="2159388"/>
            <a:ext cx="8914730" cy="4292354"/>
            <a:chOff x="1727950" y="2276834"/>
            <a:chExt cx="8914730" cy="429235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28AD585-0345-41F1-873F-0364EF5A050A}"/>
                </a:ext>
              </a:extLst>
            </p:cNvPr>
            <p:cNvSpPr/>
            <p:nvPr/>
          </p:nvSpPr>
          <p:spPr>
            <a:xfrm>
              <a:off x="1727950" y="2780758"/>
              <a:ext cx="4457365" cy="935505"/>
            </a:xfrm>
            <a:prstGeom prst="rect">
              <a:avLst/>
            </a:prstGeom>
            <a:solidFill>
              <a:schemeClr val="accent1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457200"/>
              <a:r>
                <a:rPr lang="es-ES" sz="1600" dirty="0">
                  <a:solidFill>
                    <a:prstClr val="black"/>
                  </a:solidFill>
                  <a:latin typeface="Gill Sans MT" panose="020B0502020104020203"/>
                </a:rPr>
                <a:t>Spring Cloud </a:t>
              </a:r>
              <a:r>
                <a:rPr lang="es-ES" sz="1600" dirty="0" err="1">
                  <a:solidFill>
                    <a:prstClr val="black"/>
                  </a:solidFill>
                  <a:latin typeface="Gill Sans MT" panose="020B0502020104020203"/>
                </a:rPr>
                <a:t>Microservices</a:t>
              </a:r>
              <a:r>
                <a:rPr lang="es-ES" sz="1600" dirty="0">
                  <a:solidFill>
                    <a:prstClr val="black"/>
                  </a:solidFill>
                  <a:latin typeface="Gill Sans MT" panose="020B0502020104020203"/>
                </a:rPr>
                <a:t> 101</a:t>
              </a:r>
            </a:p>
          </p:txBody>
        </p:sp>
        <p:sp>
          <p:nvSpPr>
            <p:cNvPr id="4" name="Rectangle: Top Corners Rounded 3">
              <a:extLst>
                <a:ext uri="{FF2B5EF4-FFF2-40B4-BE49-F238E27FC236}">
                  <a16:creationId xmlns:a16="http://schemas.microsoft.com/office/drawing/2014/main" id="{485F9BB8-4B31-4321-8ED7-B727582B2D6F}"/>
                </a:ext>
              </a:extLst>
            </p:cNvPr>
            <p:cNvSpPr/>
            <p:nvPr/>
          </p:nvSpPr>
          <p:spPr>
            <a:xfrm>
              <a:off x="1727950" y="2276834"/>
              <a:ext cx="4457364" cy="493193"/>
            </a:xfrm>
            <a:prstGeom prst="round2Same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rPr>
                <a:t>01 Junio</a:t>
              </a:r>
            </a:p>
          </p:txBody>
        </p:sp>
        <p:sp>
          <p:nvSpPr>
            <p:cNvPr id="5" name="Rectangle: Top Corners Rounded 4">
              <a:extLst>
                <a:ext uri="{FF2B5EF4-FFF2-40B4-BE49-F238E27FC236}">
                  <a16:creationId xmlns:a16="http://schemas.microsoft.com/office/drawing/2014/main" id="{50940CE6-28F2-443D-95D5-CF6EB9D779CC}"/>
                </a:ext>
              </a:extLst>
            </p:cNvPr>
            <p:cNvSpPr/>
            <p:nvPr/>
          </p:nvSpPr>
          <p:spPr>
            <a:xfrm>
              <a:off x="6185314" y="2276834"/>
              <a:ext cx="4457365" cy="493193"/>
            </a:xfrm>
            <a:prstGeom prst="round2Same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rPr>
                <a:t>02 Junio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A586645-A19A-4E06-A2B9-20885CD82738}"/>
                </a:ext>
              </a:extLst>
            </p:cNvPr>
            <p:cNvSpPr/>
            <p:nvPr/>
          </p:nvSpPr>
          <p:spPr>
            <a:xfrm>
              <a:off x="6185315" y="2777204"/>
              <a:ext cx="4457365" cy="939059"/>
            </a:xfrm>
            <a:prstGeom prst="rect">
              <a:avLst/>
            </a:prstGeom>
            <a:solidFill>
              <a:schemeClr val="accent1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rPr>
                <a:t>Open Source Code Inspection, Security and Testing Power Tools 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9E1DC6B-E7FA-4420-A7D4-FE5EA8839625}"/>
                </a:ext>
              </a:extLst>
            </p:cNvPr>
            <p:cNvSpPr/>
            <p:nvPr/>
          </p:nvSpPr>
          <p:spPr>
            <a:xfrm>
              <a:off x="1727950" y="4648143"/>
              <a:ext cx="4457364" cy="939059"/>
            </a:xfrm>
            <a:prstGeom prst="rect">
              <a:avLst/>
            </a:prstGeom>
            <a:solidFill>
              <a:schemeClr val="accent1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rPr>
                <a:t>Integrando Machine </a:t>
              </a:r>
              <a:r>
                <a:rPr kumimoji="0" lang="es-E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rPr>
                <a:t>Learning</a:t>
              </a:r>
              <a:r>
                <a:rPr kumimoji="0" lang="es-E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rPr>
                <a:t> en Microservicios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46E5F84-202E-498B-BE13-4B8D0A09FD3D}"/>
                </a:ext>
              </a:extLst>
            </p:cNvPr>
            <p:cNvSpPr/>
            <p:nvPr/>
          </p:nvSpPr>
          <p:spPr>
            <a:xfrm>
              <a:off x="6185315" y="3709083"/>
              <a:ext cx="4457365" cy="939057"/>
            </a:xfrm>
            <a:prstGeom prst="rect">
              <a:avLst/>
            </a:prstGeom>
            <a:solidFill>
              <a:schemeClr val="accent1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rPr>
                <a:t>Selenium</a:t>
              </a:r>
              <a:r>
                <a:rPr kumimoji="0" lang="es-E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rPr>
                <a:t> 1:1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FDD647E-FC84-46CF-B1EB-BB9ADC7D28C5}"/>
                </a:ext>
              </a:extLst>
            </p:cNvPr>
            <p:cNvSpPr/>
            <p:nvPr/>
          </p:nvSpPr>
          <p:spPr>
            <a:xfrm>
              <a:off x="1727950" y="3709085"/>
              <a:ext cx="4457364" cy="939059"/>
            </a:xfrm>
            <a:prstGeom prst="rect">
              <a:avLst/>
            </a:prstGeom>
            <a:solidFill>
              <a:schemeClr val="accent1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457200"/>
              <a:r>
                <a:rPr lang="es-ES" sz="1600" dirty="0">
                  <a:solidFill>
                    <a:prstClr val="black"/>
                  </a:solidFill>
                  <a:latin typeface="Gill Sans MT" panose="020B0502020104020203"/>
                </a:rPr>
                <a:t>Desarrolla aplicaciones web sin usar HTML ni JavaScript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D01AE00-7B45-47C7-B4FA-9BB870F5E431}"/>
                </a:ext>
              </a:extLst>
            </p:cNvPr>
            <p:cNvSpPr/>
            <p:nvPr/>
          </p:nvSpPr>
          <p:spPr>
            <a:xfrm>
              <a:off x="6185315" y="4644588"/>
              <a:ext cx="4457365" cy="1881670"/>
            </a:xfrm>
            <a:prstGeom prst="rect">
              <a:avLst/>
            </a:prstGeom>
            <a:solidFill>
              <a:schemeClr val="accent1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rPr>
                <a:t>Accenture </a:t>
              </a:r>
              <a:r>
                <a:rPr kumimoji="0" lang="es-E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rPr>
                <a:t>Technology</a:t>
              </a:r>
              <a:r>
                <a:rPr kumimoji="0" lang="es-E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rPr>
                <a:t> Stand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259363E-8DAD-4691-85C2-6DC380BCD1C7}"/>
                </a:ext>
              </a:extLst>
            </p:cNvPr>
            <p:cNvSpPr txBox="1"/>
            <p:nvPr/>
          </p:nvSpPr>
          <p:spPr>
            <a:xfrm>
              <a:off x="3416773" y="3084216"/>
              <a:ext cx="23271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rPr>
                <a:t>@</a:t>
              </a:r>
              <a:r>
                <a:rPr kumimoji="0" lang="es-ES" sz="12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rPr>
                <a:t>juanmacintas</a:t>
              </a:r>
              <a:r>
                <a:rPr kumimoji="0" lang="es-E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rPr>
                <a:t>, @</a:t>
              </a:r>
              <a:r>
                <a:rPr kumimoji="0" lang="es-ES" sz="12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rPr>
                <a:t>restalion</a:t>
              </a:r>
              <a:endPara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rPr>
                <a:t>Sala Colmenar, 11:00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B34B3C4-45B2-46F9-BD05-CA1C8F26CC94}"/>
                </a:ext>
              </a:extLst>
            </p:cNvPr>
            <p:cNvSpPr txBox="1"/>
            <p:nvPr/>
          </p:nvSpPr>
          <p:spPr>
            <a:xfrm>
              <a:off x="3416773" y="4962335"/>
              <a:ext cx="23271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rPr>
                <a:t>@</a:t>
              </a:r>
              <a:r>
                <a:rPr kumimoji="0" lang="es-ES" sz="12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rPr>
                <a:t>oscuroweb</a:t>
              </a:r>
              <a:r>
                <a:rPr kumimoji="0" lang="es-E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rPr>
                <a:t>, @</a:t>
              </a:r>
              <a:r>
                <a:rPr kumimoji="0" lang="es-ES" sz="12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rPr>
                <a:t>restalion</a:t>
              </a:r>
              <a:endPara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rPr>
                <a:t>Sala 1, 16:00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DBA9AF0-5510-4D69-9CED-3D19DCCF7FA2}"/>
                </a:ext>
              </a:extLst>
            </p:cNvPr>
            <p:cNvSpPr txBox="1"/>
            <p:nvPr/>
          </p:nvSpPr>
          <p:spPr>
            <a:xfrm>
              <a:off x="3436651" y="4044736"/>
              <a:ext cx="23271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rPr>
                <a:t>@cloud4dev ‏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rPr>
                <a:t>Sala Colmenar, 12:00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0E365EF-4AA4-49C2-9729-0756E6E75FFE}"/>
                </a:ext>
              </a:extLst>
            </p:cNvPr>
            <p:cNvSpPr txBox="1"/>
            <p:nvPr/>
          </p:nvSpPr>
          <p:spPr>
            <a:xfrm>
              <a:off x="8179746" y="3091393"/>
              <a:ext cx="23271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rPr>
                <a:t>@_</a:t>
              </a:r>
              <a:r>
                <a:rPr kumimoji="0" lang="es-ES" sz="12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rPr>
                <a:t>deors</a:t>
              </a:r>
              <a:endPara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rPr>
                <a:t>Sala 2, 17:30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1A98B44-CF19-4EDC-A3C0-4A2986119D9F}"/>
                </a:ext>
              </a:extLst>
            </p:cNvPr>
            <p:cNvSpPr txBox="1"/>
            <p:nvPr/>
          </p:nvSpPr>
          <p:spPr>
            <a:xfrm>
              <a:off x="8179745" y="4030456"/>
              <a:ext cx="23271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rPr>
                <a:t>@</a:t>
              </a:r>
              <a:r>
                <a:rPr kumimoji="0" lang="es-ES" sz="12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rPr>
                <a:t>viarellano</a:t>
              </a:r>
              <a:r>
                <a:rPr kumimoji="0" lang="es-E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rPr>
                <a:t>, @</a:t>
              </a:r>
              <a:r>
                <a:rPr kumimoji="0" lang="es-ES" sz="12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rPr>
                <a:t>thetechoddbug</a:t>
              </a:r>
              <a:endPara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rPr>
                <a:t>Sala 2, 17:30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A1A44E9-880D-4CDB-8DAD-04CC40DF230D}"/>
                </a:ext>
              </a:extLst>
            </p:cNvPr>
            <p:cNvSpPr txBox="1"/>
            <p:nvPr/>
          </p:nvSpPr>
          <p:spPr>
            <a:xfrm>
              <a:off x="8179745" y="4990977"/>
              <a:ext cx="23271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rPr>
                <a:t>Podéis visitarnos en nuestro stand a lo largo de toda la conferencia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73EB87E-D00B-4856-B29F-3EE16659938E}"/>
                </a:ext>
              </a:extLst>
            </p:cNvPr>
            <p:cNvSpPr/>
            <p:nvPr/>
          </p:nvSpPr>
          <p:spPr>
            <a:xfrm>
              <a:off x="1727951" y="5587199"/>
              <a:ext cx="4457364" cy="939059"/>
            </a:xfrm>
            <a:prstGeom prst="rect">
              <a:avLst/>
            </a:prstGeom>
            <a:solidFill>
              <a:schemeClr val="accent1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rPr>
                <a:t>Introducción a </a:t>
              </a:r>
              <a:r>
                <a:rPr kumimoji="0" lang="es-E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rPr>
                <a:t>Lagom</a:t>
              </a:r>
              <a:r>
                <a:rPr kumimoji="0" lang="es-E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rPr>
                <a:t> y primeros pasos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6CD970C-5E01-41F3-8D03-AF8754C3F0E3}"/>
                </a:ext>
              </a:extLst>
            </p:cNvPr>
            <p:cNvSpPr txBox="1"/>
            <p:nvPr/>
          </p:nvSpPr>
          <p:spPr>
            <a:xfrm>
              <a:off x="3436651" y="5922857"/>
              <a:ext cx="23271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rPr>
                <a:t>@</a:t>
              </a:r>
              <a:r>
                <a:rPr kumimoji="0" lang="es-ES" sz="12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rPr>
                <a:t>oscuroweb</a:t>
              </a:r>
              <a:r>
                <a:rPr kumimoji="0" lang="es-E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rPr>
                <a:t>, David Urdiales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rPr>
                <a:t>Sala </a:t>
              </a:r>
              <a:r>
                <a:rPr kumimoji="0" lang="es-ES" sz="12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rPr>
                <a:t>Riogordo</a:t>
              </a:r>
              <a:r>
                <a:rPr kumimoji="0" lang="es-E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rPr>
                <a:t> 1, 18:00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4335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E0985-B3DA-4994-9BE2-1A9EF84C6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Vaadin 8</a:t>
            </a:r>
            <a:endParaRPr lang="es-E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4D4C99-8CE5-4B3C-B79D-3FD5DE361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734" y="2177349"/>
            <a:ext cx="2055074" cy="37676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DD7AA0-339C-4DC8-9CA0-4A3A7D07D4E8}"/>
              </a:ext>
            </a:extLst>
          </p:cNvPr>
          <p:cNvSpPr txBox="1"/>
          <p:nvPr/>
        </p:nvSpPr>
        <p:spPr>
          <a:xfrm>
            <a:off x="3346076" y="3522557"/>
            <a:ext cx="549984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dirty="0"/>
              <a:t>Desarrollo de aplicaciones web Java con Vaadin 8</a:t>
            </a:r>
          </a:p>
        </p:txBody>
      </p:sp>
    </p:spTree>
    <p:extLst>
      <p:ext uri="{BB962C8B-B14F-4D97-AF65-F5344CB8AC3E}">
        <p14:creationId xmlns:p14="http://schemas.microsoft.com/office/powerpoint/2010/main" val="3509904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E0985-B3DA-4994-9BE2-1A9EF84C6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ObjetIVOS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537A7-B785-4F05-BB14-8996A42C7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¿Qué es Vaadin?</a:t>
            </a:r>
          </a:p>
          <a:p>
            <a:r>
              <a:rPr lang="es-ES_tradnl" dirty="0"/>
              <a:t>Características y Arquitectura</a:t>
            </a:r>
          </a:p>
          <a:p>
            <a:r>
              <a:rPr lang="es-ES_tradnl" dirty="0"/>
              <a:t>Integración con Spring</a:t>
            </a:r>
          </a:p>
          <a:p>
            <a:r>
              <a:rPr lang="es-ES_tradnl" dirty="0"/>
              <a:t>Trabajando con datos</a:t>
            </a:r>
          </a:p>
          <a:p>
            <a:r>
              <a:rPr lang="es-ES_tradnl" dirty="0"/>
              <a:t>Estilos</a:t>
            </a:r>
          </a:p>
          <a:p>
            <a:r>
              <a:rPr lang="es-ES_tradnl" dirty="0" err="1"/>
              <a:t>Addons</a:t>
            </a:r>
            <a:endParaRPr lang="es-ES_tradnl" dirty="0"/>
          </a:p>
          <a:p>
            <a:r>
              <a:rPr lang="es-ES_tradnl" dirty="0"/>
              <a:t>Demo</a:t>
            </a:r>
          </a:p>
          <a:p>
            <a:pPr marL="0" indent="0">
              <a:buNone/>
            </a:pPr>
            <a:endParaRPr lang="es-ES_trad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45EB99-0591-4902-ADAB-D631B5565F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1176" y="2560244"/>
            <a:ext cx="5559631" cy="291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635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E0985-B3DA-4994-9BE2-1A9EF84C6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 es  Vaadin?</a:t>
            </a:r>
            <a:endParaRPr lang="es-ES" dirty="0"/>
          </a:p>
        </p:txBody>
      </p:sp>
      <p:sp>
        <p:nvSpPr>
          <p:cNvPr id="44" name="Content Placeholder 1">
            <a:extLst>
              <a:ext uri="{FF2B5EF4-FFF2-40B4-BE49-F238E27FC236}">
                <a16:creationId xmlns:a16="http://schemas.microsoft.com/office/drawing/2014/main" id="{F729812C-DBDA-4D26-BAFA-D11C4E8B6BFA}"/>
              </a:ext>
            </a:extLst>
          </p:cNvPr>
          <p:cNvSpPr>
            <a:spLocks noGrp="1"/>
          </p:cNvSpPr>
          <p:nvPr/>
        </p:nvSpPr>
        <p:spPr>
          <a:xfrm>
            <a:off x="581192" y="2032530"/>
            <a:ext cx="6959367" cy="4689475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>
            <a:lvl1pPr marL="55561" indent="0" algn="l" defTabSz="91437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400" b="1" kern="1200" cap="none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Plataforma</a:t>
            </a:r>
            <a:r>
              <a:rPr lang="en-US" dirty="0"/>
              <a:t> de </a:t>
            </a:r>
            <a:r>
              <a:rPr lang="en-US" dirty="0" err="1"/>
              <a:t>desarrollo</a:t>
            </a:r>
            <a:r>
              <a:rPr lang="en-US" dirty="0"/>
              <a:t> Java UI que </a:t>
            </a:r>
            <a:r>
              <a:rPr lang="en-US" dirty="0" err="1"/>
              <a:t>simplifica</a:t>
            </a:r>
            <a:r>
              <a:rPr lang="en-US" dirty="0"/>
              <a:t> el </a:t>
            </a:r>
            <a:r>
              <a:rPr lang="en-US" dirty="0" err="1"/>
              <a:t>desarrollo</a:t>
            </a:r>
            <a:r>
              <a:rPr lang="en-US" dirty="0"/>
              <a:t> para la </a:t>
            </a:r>
            <a:r>
              <a:rPr lang="en-US" dirty="0" err="1"/>
              <a:t>contrucción</a:t>
            </a:r>
            <a:r>
              <a:rPr lang="en-US" dirty="0"/>
              <a:t> de </a:t>
            </a:r>
            <a:r>
              <a:rPr lang="en-US" dirty="0" err="1"/>
              <a:t>aplicaciones</a:t>
            </a:r>
            <a:r>
              <a:rPr lang="en-US" dirty="0"/>
              <a:t> web.</a:t>
            </a:r>
          </a:p>
          <a:p>
            <a:pPr marL="55562" lvl="1" indent="0">
              <a:buNone/>
            </a:pPr>
            <a:endParaRPr lang="en-US" dirty="0"/>
          </a:p>
          <a:p>
            <a:pPr marL="55562" lvl="1" indent="0">
              <a:buNone/>
            </a:pPr>
            <a:endParaRPr lang="en-US" dirty="0"/>
          </a:p>
          <a:p>
            <a:pPr marL="55562" lvl="1" indent="0">
              <a:buNone/>
            </a:pPr>
            <a:endParaRPr lang="en-US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ED2482C-CACD-4535-A758-148E293F2AA9}"/>
              </a:ext>
            </a:extLst>
          </p:cNvPr>
          <p:cNvGrpSpPr/>
          <p:nvPr/>
        </p:nvGrpSpPr>
        <p:grpSpPr>
          <a:xfrm>
            <a:off x="1661264" y="3449315"/>
            <a:ext cx="5350220" cy="1121981"/>
            <a:chOff x="1461071" y="3245587"/>
            <a:chExt cx="5350220" cy="1121981"/>
          </a:xfrm>
        </p:grpSpPr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C59B1036-9F07-4334-924B-601CEDB864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10229" y="3245587"/>
              <a:ext cx="1438558" cy="742992"/>
            </a:xfrm>
            <a:prstGeom prst="rect">
              <a:avLst/>
            </a:prstGeom>
          </p:spPr>
        </p:pic>
        <p:sp>
          <p:nvSpPr>
            <p:cNvPr id="51" name="TextBox 13">
              <a:extLst>
                <a:ext uri="{FF2B5EF4-FFF2-40B4-BE49-F238E27FC236}">
                  <a16:creationId xmlns:a16="http://schemas.microsoft.com/office/drawing/2014/main" id="{4EE4D175-63E6-4811-9AE4-99960014A947}"/>
                </a:ext>
              </a:extLst>
            </p:cNvPr>
            <p:cNvSpPr txBox="1"/>
            <p:nvPr/>
          </p:nvSpPr>
          <p:spPr>
            <a:xfrm>
              <a:off x="3859619" y="3326859"/>
              <a:ext cx="2951672" cy="907941"/>
            </a:xfrm>
            <a:prstGeom prst="rect">
              <a:avLst/>
            </a:prstGeom>
            <a:noFill/>
          </p:spPr>
          <p:txBody>
            <a:bodyPr wrap="square" lIns="0" tIns="0" rIns="0" bIns="4572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 dirty="0" err="1"/>
                <a:t>Basado</a:t>
              </a:r>
              <a:r>
                <a:rPr lang="en-US" sz="2000" dirty="0"/>
                <a:t> </a:t>
              </a:r>
              <a:r>
                <a:rPr lang="en-US" b="1" dirty="0" err="1"/>
                <a:t>en</a:t>
              </a:r>
              <a:r>
                <a:rPr lang="en-US" b="1" dirty="0"/>
                <a:t> Java Components del </a:t>
              </a:r>
              <a:r>
                <a:rPr lang="en-US" b="1" dirty="0" err="1"/>
                <a:t>lado</a:t>
              </a:r>
              <a:r>
                <a:rPr lang="en-US" b="1" dirty="0"/>
                <a:t> del </a:t>
              </a:r>
              <a:r>
                <a:rPr lang="en-US" b="1" dirty="0" err="1"/>
                <a:t>servidor</a:t>
              </a:r>
              <a:endParaRPr lang="es-ES" b="1" dirty="0"/>
            </a:p>
          </p:txBody>
        </p:sp>
        <p:sp>
          <p:nvSpPr>
            <p:cNvPr id="52" name="TextBox 17">
              <a:extLst>
                <a:ext uri="{FF2B5EF4-FFF2-40B4-BE49-F238E27FC236}">
                  <a16:creationId xmlns:a16="http://schemas.microsoft.com/office/drawing/2014/main" id="{7A919337-649A-4139-BDC7-D3DA66C51BCF}"/>
                </a:ext>
              </a:extLst>
            </p:cNvPr>
            <p:cNvSpPr txBox="1"/>
            <p:nvPr/>
          </p:nvSpPr>
          <p:spPr>
            <a:xfrm>
              <a:off x="1461071" y="4075180"/>
              <a:ext cx="2626242" cy="292388"/>
            </a:xfrm>
            <a:prstGeom prst="rect">
              <a:avLst/>
            </a:prstGeom>
            <a:noFill/>
          </p:spPr>
          <p:txBody>
            <a:bodyPr wrap="square" lIns="0" tIns="0" rIns="0" bIns="4572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ES" sz="1600" dirty="0">
                  <a:solidFill>
                    <a:srgbClr val="00B4F0"/>
                  </a:solidFill>
                </a:rPr>
                <a:t> VAADIN FRAMEWORK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CF94381-1354-42E8-9BB1-21496AF9B02A}"/>
              </a:ext>
            </a:extLst>
          </p:cNvPr>
          <p:cNvGrpSpPr/>
          <p:nvPr/>
        </p:nvGrpSpPr>
        <p:grpSpPr>
          <a:xfrm>
            <a:off x="1793435" y="5243833"/>
            <a:ext cx="5747124" cy="1009404"/>
            <a:chOff x="1593242" y="5040105"/>
            <a:chExt cx="5747124" cy="1009404"/>
          </a:xfrm>
        </p:grpSpPr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AA3336B5-F19D-4B3F-984B-CBE8E64A6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38262" y="5040105"/>
              <a:ext cx="535873" cy="583156"/>
            </a:xfrm>
            <a:prstGeom prst="rect">
              <a:avLst/>
            </a:prstGeom>
          </p:spPr>
        </p:pic>
        <p:sp>
          <p:nvSpPr>
            <p:cNvPr id="48" name="TextBox 14">
              <a:extLst>
                <a:ext uri="{FF2B5EF4-FFF2-40B4-BE49-F238E27FC236}">
                  <a16:creationId xmlns:a16="http://schemas.microsoft.com/office/drawing/2014/main" id="{0D6B9757-472F-4D39-A843-D573A48DADC7}"/>
                </a:ext>
              </a:extLst>
            </p:cNvPr>
            <p:cNvSpPr txBox="1"/>
            <p:nvPr/>
          </p:nvSpPr>
          <p:spPr>
            <a:xfrm>
              <a:off x="3859619" y="5132692"/>
              <a:ext cx="3480747" cy="323165"/>
            </a:xfrm>
            <a:prstGeom prst="rect">
              <a:avLst/>
            </a:prstGeom>
            <a:noFill/>
          </p:spPr>
          <p:txBody>
            <a:bodyPr wrap="square" lIns="0" tIns="0" rIns="0" bIns="4572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 dirty="0" err="1"/>
                <a:t>Basado</a:t>
              </a:r>
              <a:r>
                <a:rPr lang="en-US" b="1" dirty="0"/>
                <a:t> </a:t>
              </a:r>
              <a:r>
                <a:rPr lang="en-US" b="1" dirty="0" err="1"/>
                <a:t>en</a:t>
              </a:r>
              <a:r>
                <a:rPr lang="en-US" b="1" dirty="0"/>
                <a:t> Web Components</a:t>
              </a:r>
            </a:p>
          </p:txBody>
        </p:sp>
        <p:sp>
          <p:nvSpPr>
            <p:cNvPr id="49" name="TextBox 18">
              <a:extLst>
                <a:ext uri="{FF2B5EF4-FFF2-40B4-BE49-F238E27FC236}">
                  <a16:creationId xmlns:a16="http://schemas.microsoft.com/office/drawing/2014/main" id="{6CA8D9E0-AC38-466C-8BF0-7E3D3219516A}"/>
                </a:ext>
              </a:extLst>
            </p:cNvPr>
            <p:cNvSpPr txBox="1"/>
            <p:nvPr/>
          </p:nvSpPr>
          <p:spPr>
            <a:xfrm>
              <a:off x="1593242" y="5757121"/>
              <a:ext cx="2626242" cy="292388"/>
            </a:xfrm>
            <a:prstGeom prst="rect">
              <a:avLst/>
            </a:prstGeom>
            <a:noFill/>
          </p:spPr>
          <p:txBody>
            <a:bodyPr wrap="square" lIns="0" tIns="0" rIns="0" bIns="4572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ES" sz="1600" dirty="0">
                  <a:solidFill>
                    <a:srgbClr val="00B4F0"/>
                  </a:solidFill>
                </a:rPr>
                <a:t> VAADIN ELEMENTS</a:t>
              </a:r>
            </a:p>
          </p:txBody>
        </p:sp>
      </p:grpSp>
      <p:pic>
        <p:nvPicPr>
          <p:cNvPr id="2050" name="Picture 2" descr="Resultado de imagen de vaadin logo">
            <a:extLst>
              <a:ext uri="{FF2B5EF4-FFF2-40B4-BE49-F238E27FC236}">
                <a16:creationId xmlns:a16="http://schemas.microsoft.com/office/drawing/2014/main" id="{CBCAB7CE-7412-4306-A6BD-34E37196AD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0631" y="2877492"/>
            <a:ext cx="3095220" cy="3095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3892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E0985-B3DA-4994-9BE2-1A9EF84C6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Roadmap</a:t>
            </a:r>
            <a:endParaRPr lang="es-ES" dirty="0"/>
          </a:p>
        </p:txBody>
      </p:sp>
      <p:sp>
        <p:nvSpPr>
          <p:cNvPr id="4" name="TextBox 34">
            <a:extLst>
              <a:ext uri="{FF2B5EF4-FFF2-40B4-BE49-F238E27FC236}">
                <a16:creationId xmlns:a16="http://schemas.microsoft.com/office/drawing/2014/main" id="{2FA0AEF4-F365-43F2-B11C-AC7A5C8881D4}"/>
              </a:ext>
            </a:extLst>
          </p:cNvPr>
          <p:cNvSpPr txBox="1"/>
          <p:nvPr/>
        </p:nvSpPr>
        <p:spPr>
          <a:xfrm>
            <a:off x="581192" y="2085888"/>
            <a:ext cx="7116143" cy="661720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b="1" dirty="0"/>
              <a:t>Soporte Vaadin 8 al menos hasta 2022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b="1" dirty="0"/>
              <a:t>Desde 2018 </a:t>
            </a:r>
            <a:r>
              <a:rPr lang="es-ES" sz="2000" b="1" dirty="0" err="1"/>
              <a:t>Releases</a:t>
            </a:r>
            <a:r>
              <a:rPr lang="es-ES" sz="2000" b="1" dirty="0"/>
              <a:t> primer mes </a:t>
            </a:r>
            <a:r>
              <a:rPr lang="es-ES" sz="2000" b="1"/>
              <a:t>cada cuatrimestre</a:t>
            </a:r>
            <a:endParaRPr lang="es-ES" sz="2000" b="1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3DF25F6-6D77-4B10-B8C3-0C209F4A7A9D}"/>
              </a:ext>
            </a:extLst>
          </p:cNvPr>
          <p:cNvSpPr/>
          <p:nvPr/>
        </p:nvSpPr>
        <p:spPr>
          <a:xfrm>
            <a:off x="2004985" y="4158688"/>
            <a:ext cx="8992618" cy="88973"/>
          </a:xfrm>
          <a:prstGeom prst="roundRect">
            <a:avLst/>
          </a:prstGeom>
          <a:solidFill>
            <a:srgbClr val="00B4F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E1B1F84-5D81-48FA-AC8A-AAD38AD7E754}"/>
              </a:ext>
            </a:extLst>
          </p:cNvPr>
          <p:cNvSpPr/>
          <p:nvPr/>
        </p:nvSpPr>
        <p:spPr>
          <a:xfrm>
            <a:off x="2004985" y="3907021"/>
            <a:ext cx="743002" cy="568701"/>
          </a:xfrm>
          <a:prstGeom prst="round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400" b="1" dirty="0" err="1"/>
              <a:t>Sep</a:t>
            </a:r>
            <a:r>
              <a:rPr lang="es-ES" sz="1400" b="1" dirty="0"/>
              <a:t> 2009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E3E8163-F0E7-4671-B0ED-F036D5A05539}"/>
              </a:ext>
            </a:extLst>
          </p:cNvPr>
          <p:cNvSpPr/>
          <p:nvPr/>
        </p:nvSpPr>
        <p:spPr>
          <a:xfrm>
            <a:off x="3396261" y="3907022"/>
            <a:ext cx="743002" cy="568701"/>
          </a:xfrm>
          <a:prstGeom prst="round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400" b="1" dirty="0"/>
              <a:t>Feb 2013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7D60B71-B73C-42E5-8037-8B5A31CFC5A4}"/>
              </a:ext>
            </a:extLst>
          </p:cNvPr>
          <p:cNvSpPr/>
          <p:nvPr/>
        </p:nvSpPr>
        <p:spPr>
          <a:xfrm>
            <a:off x="4862842" y="3907023"/>
            <a:ext cx="743002" cy="568701"/>
          </a:xfrm>
          <a:prstGeom prst="round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400" b="1" dirty="0"/>
              <a:t>Feb 2017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0715E19-83FC-4715-8FD7-446EFD5CDF35}"/>
              </a:ext>
            </a:extLst>
          </p:cNvPr>
          <p:cNvSpPr/>
          <p:nvPr/>
        </p:nvSpPr>
        <p:spPr>
          <a:xfrm>
            <a:off x="9252081" y="4027134"/>
            <a:ext cx="433052" cy="328473"/>
          </a:xfrm>
          <a:prstGeom prst="round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400" b="1" dirty="0"/>
              <a:t>¿?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482336F-39D9-4BF9-B40E-01C9E5E18DF5}"/>
              </a:ext>
            </a:extLst>
          </p:cNvPr>
          <p:cNvSpPr/>
          <p:nvPr/>
        </p:nvSpPr>
        <p:spPr>
          <a:xfrm>
            <a:off x="1806054" y="5507380"/>
            <a:ext cx="1107091" cy="1003725"/>
          </a:xfrm>
          <a:prstGeom prst="roundRect">
            <a:avLst/>
          </a:prstGeom>
          <a:solidFill>
            <a:srgbClr val="00B4F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dirty="0"/>
              <a:t>Vaadin 6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F74F1D3-0AC6-4FC1-BB59-19F482E0A9D4}"/>
              </a:ext>
            </a:extLst>
          </p:cNvPr>
          <p:cNvSpPr/>
          <p:nvPr/>
        </p:nvSpPr>
        <p:spPr>
          <a:xfrm>
            <a:off x="3214216" y="5507380"/>
            <a:ext cx="1107091" cy="1003725"/>
          </a:xfrm>
          <a:prstGeom prst="roundRect">
            <a:avLst/>
          </a:prstGeom>
          <a:solidFill>
            <a:srgbClr val="00B4F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dirty="0"/>
              <a:t>Vaadin 7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2C7EF6B-8227-4EA9-973D-4FFC183B052B}"/>
              </a:ext>
            </a:extLst>
          </p:cNvPr>
          <p:cNvSpPr/>
          <p:nvPr/>
        </p:nvSpPr>
        <p:spPr>
          <a:xfrm>
            <a:off x="4680796" y="5552032"/>
            <a:ext cx="1107091" cy="1003725"/>
          </a:xfrm>
          <a:prstGeom prst="roundRect">
            <a:avLst/>
          </a:prstGeom>
          <a:solidFill>
            <a:srgbClr val="00B4F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dirty="0"/>
              <a:t>Vaadin 8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F65B151-24A1-4B22-A03C-303D79E0FCD3}"/>
              </a:ext>
            </a:extLst>
          </p:cNvPr>
          <p:cNvSpPr/>
          <p:nvPr/>
        </p:nvSpPr>
        <p:spPr>
          <a:xfrm>
            <a:off x="8873459" y="5552032"/>
            <a:ext cx="1190295" cy="1003725"/>
          </a:xfrm>
          <a:prstGeom prst="roundRect">
            <a:avLst/>
          </a:prstGeom>
          <a:solidFill>
            <a:srgbClr val="00B4F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dirty="0"/>
              <a:t>Vaadin 10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7F1BFF5-BC0B-4BE8-85A9-9989FDF94601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2359600" y="4475722"/>
            <a:ext cx="16886" cy="1031658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E539482-E0CC-4B12-AEDD-6C350B211DE6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3767762" y="4475723"/>
            <a:ext cx="0" cy="103165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60A04BF-36B7-4636-807D-EDEAFEF5E253}"/>
              </a:ext>
            </a:extLst>
          </p:cNvPr>
          <p:cNvCxnSpPr>
            <a:cxnSpLocks/>
          </p:cNvCxnSpPr>
          <p:nvPr/>
        </p:nvCxnSpPr>
        <p:spPr>
          <a:xfrm>
            <a:off x="5234343" y="4475724"/>
            <a:ext cx="0" cy="1076308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A15C5E8-6A1F-47D4-8FA3-42D2CCB8319A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9468607" y="4355607"/>
            <a:ext cx="0" cy="1196425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062D763-9078-43F6-B628-B98D964CF619}"/>
              </a:ext>
            </a:extLst>
          </p:cNvPr>
          <p:cNvCxnSpPr>
            <a:cxnSpLocks/>
          </p:cNvCxnSpPr>
          <p:nvPr/>
        </p:nvCxnSpPr>
        <p:spPr>
          <a:xfrm>
            <a:off x="5933478" y="3795000"/>
            <a:ext cx="0" cy="345952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AA4B7BD-5124-496A-8A8D-1F2564EBB1D2}"/>
              </a:ext>
            </a:extLst>
          </p:cNvPr>
          <p:cNvSpPr/>
          <p:nvPr/>
        </p:nvSpPr>
        <p:spPr>
          <a:xfrm>
            <a:off x="5605844" y="3298717"/>
            <a:ext cx="655267" cy="501597"/>
          </a:xfrm>
          <a:prstGeom prst="roundRect">
            <a:avLst/>
          </a:prstGeom>
          <a:solidFill>
            <a:srgbClr val="00B4F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00" dirty="0"/>
              <a:t>Jul-17</a:t>
            </a:r>
          </a:p>
          <a:p>
            <a:pPr algn="ctr"/>
            <a:r>
              <a:rPr lang="es-ES" sz="1000" dirty="0"/>
              <a:t>8.1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D3F1187-1D4C-4050-AE6F-BF5D65C6FEF0}"/>
              </a:ext>
            </a:extLst>
          </p:cNvPr>
          <p:cNvCxnSpPr>
            <a:cxnSpLocks/>
          </p:cNvCxnSpPr>
          <p:nvPr/>
        </p:nvCxnSpPr>
        <p:spPr>
          <a:xfrm flipH="1">
            <a:off x="6699332" y="3796556"/>
            <a:ext cx="1" cy="344396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5F78A00-2495-4ED1-9BDE-54F8E0E760D0}"/>
              </a:ext>
            </a:extLst>
          </p:cNvPr>
          <p:cNvSpPr/>
          <p:nvPr/>
        </p:nvSpPr>
        <p:spPr>
          <a:xfrm>
            <a:off x="6371699" y="3300273"/>
            <a:ext cx="655267" cy="501597"/>
          </a:xfrm>
          <a:prstGeom prst="roundRect">
            <a:avLst/>
          </a:prstGeom>
          <a:solidFill>
            <a:srgbClr val="00B4F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00" dirty="0"/>
              <a:t>Dic-17</a:t>
            </a:r>
          </a:p>
          <a:p>
            <a:pPr algn="ctr"/>
            <a:r>
              <a:rPr lang="es-ES" sz="1000" dirty="0"/>
              <a:t>8.2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D18255A-1B20-4440-A2F9-06E385D32ABC}"/>
              </a:ext>
            </a:extLst>
          </p:cNvPr>
          <p:cNvCxnSpPr>
            <a:cxnSpLocks/>
          </p:cNvCxnSpPr>
          <p:nvPr/>
        </p:nvCxnSpPr>
        <p:spPr>
          <a:xfrm flipH="1">
            <a:off x="7476608" y="3796556"/>
            <a:ext cx="1" cy="344396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D3B7906-8CDA-4A88-B044-CB4B9430F943}"/>
              </a:ext>
            </a:extLst>
          </p:cNvPr>
          <p:cNvSpPr/>
          <p:nvPr/>
        </p:nvSpPr>
        <p:spPr>
          <a:xfrm>
            <a:off x="7148975" y="3300273"/>
            <a:ext cx="655267" cy="501597"/>
          </a:xfrm>
          <a:prstGeom prst="roundRect">
            <a:avLst/>
          </a:prstGeom>
          <a:solidFill>
            <a:srgbClr val="00B4F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00" dirty="0"/>
              <a:t>En-18</a:t>
            </a:r>
          </a:p>
          <a:p>
            <a:pPr algn="ctr"/>
            <a:r>
              <a:rPr lang="es-ES" sz="1000" dirty="0"/>
              <a:t>8.3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F890432-C5A8-45BA-9DD6-07B29A51E1F0}"/>
              </a:ext>
            </a:extLst>
          </p:cNvPr>
          <p:cNvCxnSpPr>
            <a:cxnSpLocks/>
          </p:cNvCxnSpPr>
          <p:nvPr/>
        </p:nvCxnSpPr>
        <p:spPr>
          <a:xfrm flipH="1">
            <a:off x="8241494" y="3812479"/>
            <a:ext cx="1" cy="328473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B8D8F31-B989-4DA1-B51F-F5D6C4AF0ADF}"/>
              </a:ext>
            </a:extLst>
          </p:cNvPr>
          <p:cNvSpPr/>
          <p:nvPr/>
        </p:nvSpPr>
        <p:spPr>
          <a:xfrm>
            <a:off x="7913861" y="3316196"/>
            <a:ext cx="655267" cy="501597"/>
          </a:xfrm>
          <a:prstGeom prst="roundRect">
            <a:avLst/>
          </a:prstGeom>
          <a:solidFill>
            <a:srgbClr val="00B4F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00" dirty="0"/>
              <a:t>Abr-18</a:t>
            </a:r>
          </a:p>
          <a:p>
            <a:pPr algn="ctr"/>
            <a:r>
              <a:rPr lang="es-ES" sz="1000" dirty="0"/>
              <a:t>8.4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3CC9BD0-0241-4ADC-AF1F-C71D4E0F18DC}"/>
              </a:ext>
            </a:extLst>
          </p:cNvPr>
          <p:cNvCxnSpPr>
            <a:cxnSpLocks/>
          </p:cNvCxnSpPr>
          <p:nvPr/>
        </p:nvCxnSpPr>
        <p:spPr>
          <a:xfrm>
            <a:off x="9018868" y="3812479"/>
            <a:ext cx="0" cy="328473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DFD3FA3-2803-4091-A344-D7AD3AB23F8A}"/>
              </a:ext>
            </a:extLst>
          </p:cNvPr>
          <p:cNvSpPr/>
          <p:nvPr/>
        </p:nvSpPr>
        <p:spPr>
          <a:xfrm>
            <a:off x="8691234" y="3316196"/>
            <a:ext cx="655267" cy="501597"/>
          </a:xfrm>
          <a:prstGeom prst="roundRect">
            <a:avLst/>
          </a:prstGeom>
          <a:solidFill>
            <a:srgbClr val="00B4F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00" dirty="0"/>
              <a:t>Jul-18</a:t>
            </a:r>
          </a:p>
          <a:p>
            <a:pPr algn="ctr"/>
            <a:r>
              <a:rPr lang="es-ES" sz="1000" dirty="0"/>
              <a:t>8.5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B067F3A-CA64-4B0F-9236-D4286E8DFFCC}"/>
              </a:ext>
            </a:extLst>
          </p:cNvPr>
          <p:cNvCxnSpPr>
            <a:cxnSpLocks/>
          </p:cNvCxnSpPr>
          <p:nvPr/>
        </p:nvCxnSpPr>
        <p:spPr>
          <a:xfrm>
            <a:off x="9796241" y="3807165"/>
            <a:ext cx="0" cy="33378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BB1F7EA-F266-41D3-A2EB-B13607B0E21E}"/>
              </a:ext>
            </a:extLst>
          </p:cNvPr>
          <p:cNvSpPr/>
          <p:nvPr/>
        </p:nvSpPr>
        <p:spPr>
          <a:xfrm>
            <a:off x="9468607" y="3310882"/>
            <a:ext cx="655267" cy="501597"/>
          </a:xfrm>
          <a:prstGeom prst="roundRect">
            <a:avLst/>
          </a:prstGeom>
          <a:solidFill>
            <a:srgbClr val="00B4F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00" dirty="0"/>
              <a:t>Oct-18</a:t>
            </a:r>
          </a:p>
          <a:p>
            <a:pPr algn="ctr"/>
            <a:r>
              <a:rPr lang="es-ES" sz="1000" dirty="0"/>
              <a:t>8.6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AEEDF4A-C453-42BB-8BC5-E190B8C1FA3E}"/>
              </a:ext>
            </a:extLst>
          </p:cNvPr>
          <p:cNvCxnSpPr>
            <a:cxnSpLocks/>
          </p:cNvCxnSpPr>
          <p:nvPr/>
        </p:nvCxnSpPr>
        <p:spPr>
          <a:xfrm>
            <a:off x="10878976" y="3770920"/>
            <a:ext cx="0" cy="370032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531DAB0-B417-4EF9-9C14-B88B9BC4ACAA}"/>
              </a:ext>
            </a:extLst>
          </p:cNvPr>
          <p:cNvSpPr/>
          <p:nvPr/>
        </p:nvSpPr>
        <p:spPr>
          <a:xfrm>
            <a:off x="10551342" y="3310882"/>
            <a:ext cx="655267" cy="501597"/>
          </a:xfrm>
          <a:prstGeom prst="roundRect">
            <a:avLst/>
          </a:prstGeom>
          <a:solidFill>
            <a:srgbClr val="00B4F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00" dirty="0"/>
              <a:t>En-22</a:t>
            </a:r>
          </a:p>
          <a:p>
            <a:pPr algn="ctr"/>
            <a:r>
              <a:rPr lang="es-ES" sz="1000" dirty="0"/>
              <a:t>8.19</a:t>
            </a:r>
          </a:p>
        </p:txBody>
      </p:sp>
      <p:sp>
        <p:nvSpPr>
          <p:cNvPr id="32" name="TextBox 72">
            <a:extLst>
              <a:ext uri="{FF2B5EF4-FFF2-40B4-BE49-F238E27FC236}">
                <a16:creationId xmlns:a16="http://schemas.microsoft.com/office/drawing/2014/main" id="{7FAC1453-442B-47E4-AC81-0D95B42781B7}"/>
              </a:ext>
            </a:extLst>
          </p:cNvPr>
          <p:cNvSpPr txBox="1"/>
          <p:nvPr/>
        </p:nvSpPr>
        <p:spPr>
          <a:xfrm>
            <a:off x="10255766" y="3473156"/>
            <a:ext cx="195742" cy="292388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6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42216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E0985-B3DA-4994-9BE2-1A9EF84C6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Ecosistema java</a:t>
            </a:r>
            <a:endParaRPr lang="es-E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597C712-7CA7-4033-ABE2-F74BE79E5FF3}"/>
              </a:ext>
            </a:extLst>
          </p:cNvPr>
          <p:cNvCxnSpPr>
            <a:cxnSpLocks/>
          </p:cNvCxnSpPr>
          <p:nvPr/>
        </p:nvCxnSpPr>
        <p:spPr>
          <a:xfrm>
            <a:off x="9105523" y="2219098"/>
            <a:ext cx="0" cy="414358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B4497E12-1A13-4688-9A98-82E237A49FBC}"/>
              </a:ext>
            </a:extLst>
          </p:cNvPr>
          <p:cNvSpPr>
            <a:spLocks noGrp="1"/>
          </p:cNvSpPr>
          <p:nvPr/>
        </p:nvSpPr>
        <p:spPr>
          <a:xfrm>
            <a:off x="373647" y="2234090"/>
            <a:ext cx="2756079" cy="602331"/>
          </a:xfrm>
          <a:prstGeom prst="rect">
            <a:avLst/>
          </a:prstGeom>
        </p:spPr>
        <p:txBody>
          <a:bodyPr vert="horz" lIns="0" tIns="91440" rIns="0" bIns="45720" rtlCol="0">
            <a:noAutofit/>
          </a:bodyPr>
          <a:lstStyle>
            <a:lvl1pPr marL="55561" indent="0" algn="l" defTabSz="91437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800" b="1" kern="1200" cap="none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sz="1800" dirty="0" err="1">
                <a:solidFill>
                  <a:srgbClr val="00B4F0"/>
                </a:solidFill>
                <a:latin typeface="+mn-lt"/>
              </a:rPr>
              <a:t>Herarmientas</a:t>
            </a:r>
            <a:r>
              <a:rPr lang="en-US" sz="1800" dirty="0">
                <a:solidFill>
                  <a:srgbClr val="00B4F0"/>
                </a:solidFill>
                <a:latin typeface="+mn-lt"/>
              </a:rPr>
              <a:t> de </a:t>
            </a:r>
            <a:r>
              <a:rPr lang="en-US" sz="1800" dirty="0" err="1">
                <a:solidFill>
                  <a:srgbClr val="00B4F0"/>
                </a:solidFill>
                <a:latin typeface="+mn-lt"/>
              </a:rPr>
              <a:t>desarrollo</a:t>
            </a:r>
            <a:endParaRPr lang="en-US" sz="1800" dirty="0">
              <a:solidFill>
                <a:srgbClr val="00B4F0"/>
              </a:solidFill>
              <a:latin typeface="+mn-lt"/>
            </a:endParaRPr>
          </a:p>
          <a:p>
            <a:pPr>
              <a:spcAft>
                <a:spcPts val="0"/>
              </a:spcAft>
            </a:pPr>
            <a:endParaRPr lang="en-US" sz="1800" dirty="0">
              <a:solidFill>
                <a:srgbClr val="00B4F0"/>
              </a:solidFill>
              <a:latin typeface="+mn-lt"/>
            </a:endParaRPr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9FCA9474-2D10-4840-B34C-7DBB15891CE5}"/>
              </a:ext>
            </a:extLst>
          </p:cNvPr>
          <p:cNvSpPr>
            <a:spLocks noGrp="1"/>
          </p:cNvSpPr>
          <p:nvPr/>
        </p:nvSpPr>
        <p:spPr>
          <a:xfrm>
            <a:off x="3456910" y="2234090"/>
            <a:ext cx="2728913" cy="691231"/>
          </a:xfrm>
          <a:prstGeom prst="rect">
            <a:avLst/>
          </a:prstGeom>
        </p:spPr>
        <p:txBody>
          <a:bodyPr vert="horz" lIns="0" tIns="91440" rIns="0" bIns="45720" rtlCol="0">
            <a:noAutofit/>
          </a:bodyPr>
          <a:lstStyle>
            <a:lvl1pPr marL="55561" indent="0" algn="l" defTabSz="91437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800" b="1" kern="1200" cap="none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sz="1800" dirty="0" err="1">
                <a:solidFill>
                  <a:srgbClr val="00B4F0"/>
                </a:solidFill>
                <a:latin typeface="+mn-lt"/>
              </a:rPr>
              <a:t>Lenguajes</a:t>
            </a:r>
            <a:r>
              <a:rPr lang="en-US" sz="1800" dirty="0">
                <a:solidFill>
                  <a:srgbClr val="00B4F0"/>
                </a:solidFill>
                <a:latin typeface="+mn-lt"/>
              </a:rPr>
              <a:t> </a:t>
            </a:r>
            <a:r>
              <a:rPr lang="en-US" sz="1800" dirty="0" err="1">
                <a:solidFill>
                  <a:srgbClr val="00B4F0"/>
                </a:solidFill>
                <a:latin typeface="+mn-lt"/>
              </a:rPr>
              <a:t>sobre</a:t>
            </a:r>
            <a:r>
              <a:rPr lang="en-US" sz="1800" dirty="0">
                <a:solidFill>
                  <a:srgbClr val="00B4F0"/>
                </a:solidFill>
                <a:latin typeface="+mn-lt"/>
              </a:rPr>
              <a:t> JVM</a:t>
            </a:r>
          </a:p>
          <a:p>
            <a:pPr marL="55562" lvl="1" indent="0">
              <a:buNone/>
            </a:pPr>
            <a:endParaRPr lang="es-ES" sz="1800" b="1" dirty="0">
              <a:solidFill>
                <a:srgbClr val="00B4F0"/>
              </a:solidFill>
            </a:endParaRP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64800D7B-D61F-4FD8-9CF3-0DF00734826E}"/>
              </a:ext>
            </a:extLst>
          </p:cNvPr>
          <p:cNvSpPr>
            <a:spLocks noGrp="1"/>
          </p:cNvSpPr>
          <p:nvPr/>
        </p:nvSpPr>
        <p:spPr>
          <a:xfrm>
            <a:off x="9251014" y="2234090"/>
            <a:ext cx="2747962" cy="691231"/>
          </a:xfrm>
          <a:prstGeom prst="rect">
            <a:avLst/>
          </a:prstGeom>
        </p:spPr>
        <p:txBody>
          <a:bodyPr vert="horz" lIns="0" tIns="91440" rIns="0" bIns="45720" rtlCol="0">
            <a:noAutofit/>
          </a:bodyPr>
          <a:lstStyle>
            <a:lvl1pPr marL="55561" indent="0" algn="l" defTabSz="91437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800" b="1" kern="1200" cap="none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s-ES" sz="1800" dirty="0">
                <a:solidFill>
                  <a:srgbClr val="00B4F0"/>
                </a:solidFill>
                <a:latin typeface="+mn-lt"/>
              </a:rPr>
              <a:t>Integración Tecnologías Java</a:t>
            </a:r>
          </a:p>
          <a:p>
            <a:pPr>
              <a:spcAft>
                <a:spcPts val="0"/>
              </a:spcAft>
            </a:pPr>
            <a:endParaRPr lang="es-ES" sz="1800" dirty="0">
              <a:solidFill>
                <a:srgbClr val="00B4F0"/>
              </a:solidFill>
              <a:latin typeface="+mn-lt"/>
            </a:endParaRPr>
          </a:p>
          <a:p>
            <a:pPr>
              <a:spcAft>
                <a:spcPts val="0"/>
              </a:spcAft>
            </a:pPr>
            <a:endParaRPr lang="en-US" sz="1800" dirty="0">
              <a:solidFill>
                <a:srgbClr val="00B4F0"/>
              </a:solidFill>
              <a:latin typeface="+mn-lt"/>
            </a:endParaRP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7DADA07F-8517-4090-A1EE-DA9492FE3BD1}"/>
              </a:ext>
            </a:extLst>
          </p:cNvPr>
          <p:cNvSpPr>
            <a:spLocks noGrp="1"/>
          </p:cNvSpPr>
          <p:nvPr/>
        </p:nvSpPr>
        <p:spPr>
          <a:xfrm>
            <a:off x="6459780" y="2234090"/>
            <a:ext cx="2478317" cy="691231"/>
          </a:xfrm>
          <a:prstGeom prst="rect">
            <a:avLst/>
          </a:prstGeom>
        </p:spPr>
        <p:txBody>
          <a:bodyPr vert="horz" lIns="0" tIns="91440" rIns="0" bIns="45720" rtlCol="0">
            <a:noAutofit/>
          </a:bodyPr>
          <a:lstStyle>
            <a:lvl1pPr marL="55561" indent="0" algn="l" defTabSz="91437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800" b="1" kern="1200" cap="none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sz="1800" dirty="0">
                <a:solidFill>
                  <a:srgbClr val="00B0F0"/>
                </a:solidFill>
                <a:latin typeface="+mn-lt"/>
              </a:rPr>
              <a:t>Java Container</a:t>
            </a:r>
          </a:p>
          <a:p>
            <a:pPr>
              <a:spcAft>
                <a:spcPts val="0"/>
              </a:spcAft>
            </a:pPr>
            <a:endParaRPr lang="en-US" sz="1800" dirty="0">
              <a:solidFill>
                <a:srgbClr val="00B0F0"/>
              </a:solidFill>
              <a:latin typeface="+mn-lt"/>
            </a:endParaRPr>
          </a:p>
          <a:p>
            <a:pPr marL="55562" lvl="1" indent="0">
              <a:buNone/>
            </a:pPr>
            <a:endParaRPr lang="en-US" sz="1800" dirty="0">
              <a:solidFill>
                <a:srgbClr val="00B0F0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2227B1F-21D9-4025-9B91-6D10A31E2D32}"/>
              </a:ext>
            </a:extLst>
          </p:cNvPr>
          <p:cNvCxnSpPr>
            <a:cxnSpLocks/>
          </p:cNvCxnSpPr>
          <p:nvPr/>
        </p:nvCxnSpPr>
        <p:spPr>
          <a:xfrm>
            <a:off x="3297151" y="2219154"/>
            <a:ext cx="0" cy="414358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A5E792-A44A-4699-A00B-D316787DF172}"/>
              </a:ext>
            </a:extLst>
          </p:cNvPr>
          <p:cNvGrpSpPr/>
          <p:nvPr/>
        </p:nvGrpSpPr>
        <p:grpSpPr>
          <a:xfrm>
            <a:off x="1358744" y="5326931"/>
            <a:ext cx="900000" cy="899999"/>
            <a:chOff x="2171191" y="1479864"/>
            <a:chExt cx="929682" cy="929680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50503EBD-30FF-4E50-91BC-3628D00A01DC}"/>
                </a:ext>
              </a:extLst>
            </p:cNvPr>
            <p:cNvSpPr/>
            <p:nvPr/>
          </p:nvSpPr>
          <p:spPr>
            <a:xfrm>
              <a:off x="2240032" y="1548704"/>
              <a:ext cx="792000" cy="792000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  <a:effectLst>
              <a:outerShdw blurRad="254000" sx="135000" sy="135000" algn="ctr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 dirty="0">
                <a:solidFill>
                  <a:schemeClr val="tx1"/>
                </a:solidFill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88B05DE-FC4F-420A-81C8-2E081351765C}"/>
                </a:ext>
              </a:extLst>
            </p:cNvPr>
            <p:cNvSpPr/>
            <p:nvPr/>
          </p:nvSpPr>
          <p:spPr>
            <a:xfrm>
              <a:off x="2171191" y="1479864"/>
              <a:ext cx="929682" cy="929680"/>
            </a:xfrm>
            <a:prstGeom prst="ellipse">
              <a:avLst/>
            </a:prstGeom>
            <a:noFill/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 dirty="0">
                <a:solidFill>
                  <a:schemeClr val="tx1"/>
                </a:solidFill>
              </a:endParaRP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962408F1-74B3-4363-B1F5-28737D9C851F}"/>
                </a:ext>
              </a:extLst>
            </p:cNvPr>
            <p:cNvGrpSpPr/>
            <p:nvPr/>
          </p:nvGrpSpPr>
          <p:grpSpPr>
            <a:xfrm>
              <a:off x="2352696" y="1682602"/>
              <a:ext cx="566652" cy="524205"/>
              <a:chOff x="3234955" y="4333668"/>
              <a:chExt cx="1015615" cy="939530"/>
            </a:xfrm>
            <a:solidFill>
              <a:schemeClr val="bg1"/>
            </a:solidFill>
          </p:grpSpPr>
          <p:sp>
            <p:nvSpPr>
              <p:cNvPr id="37" name="Freeform 41">
                <a:extLst>
                  <a:ext uri="{FF2B5EF4-FFF2-40B4-BE49-F238E27FC236}">
                    <a16:creationId xmlns:a16="http://schemas.microsoft.com/office/drawing/2014/main" id="{8089BEBA-F42D-48F8-917E-322FCCBA3E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8298" y="4840899"/>
                <a:ext cx="99140" cy="432299"/>
              </a:xfrm>
              <a:custGeom>
                <a:avLst/>
                <a:gdLst>
                  <a:gd name="T0" fmla="*/ 149 w 149"/>
                  <a:gd name="T1" fmla="*/ 576 h 649"/>
                  <a:gd name="T2" fmla="*/ 75 w 149"/>
                  <a:gd name="T3" fmla="*/ 649 h 649"/>
                  <a:gd name="T4" fmla="*/ 0 w 149"/>
                  <a:gd name="T5" fmla="*/ 576 h 649"/>
                  <a:gd name="T6" fmla="*/ 0 w 149"/>
                  <a:gd name="T7" fmla="*/ 73 h 649"/>
                  <a:gd name="T8" fmla="*/ 75 w 149"/>
                  <a:gd name="T9" fmla="*/ 0 h 649"/>
                  <a:gd name="T10" fmla="*/ 149 w 149"/>
                  <a:gd name="T11" fmla="*/ 73 h 649"/>
                  <a:gd name="T12" fmla="*/ 149 w 149"/>
                  <a:gd name="T13" fmla="*/ 576 h 649"/>
                  <a:gd name="T14" fmla="*/ 149 w 149"/>
                  <a:gd name="T15" fmla="*/ 576 h 6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9" h="649">
                    <a:moveTo>
                      <a:pt x="149" y="576"/>
                    </a:moveTo>
                    <a:cubicBezTo>
                      <a:pt x="149" y="616"/>
                      <a:pt x="116" y="649"/>
                      <a:pt x="75" y="649"/>
                    </a:cubicBezTo>
                    <a:cubicBezTo>
                      <a:pt x="34" y="649"/>
                      <a:pt x="0" y="616"/>
                      <a:pt x="0" y="576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33"/>
                      <a:pt x="34" y="0"/>
                      <a:pt x="75" y="0"/>
                    </a:cubicBezTo>
                    <a:cubicBezTo>
                      <a:pt x="116" y="0"/>
                      <a:pt x="149" y="33"/>
                      <a:pt x="149" y="73"/>
                    </a:cubicBezTo>
                    <a:cubicBezTo>
                      <a:pt x="149" y="576"/>
                      <a:pt x="149" y="576"/>
                      <a:pt x="149" y="576"/>
                    </a:cubicBezTo>
                    <a:cubicBezTo>
                      <a:pt x="149" y="576"/>
                      <a:pt x="149" y="576"/>
                      <a:pt x="149" y="5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s-ES" dirty="0"/>
              </a:p>
            </p:txBody>
          </p:sp>
          <p:sp>
            <p:nvSpPr>
              <p:cNvPr id="38" name="Freeform 42">
                <a:extLst>
                  <a:ext uri="{FF2B5EF4-FFF2-40B4-BE49-F238E27FC236}">
                    <a16:creationId xmlns:a16="http://schemas.microsoft.com/office/drawing/2014/main" id="{714DDEAD-7B91-4AAB-A6E8-E145A030EF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3987" y="4840899"/>
                <a:ext cx="433451" cy="138336"/>
              </a:xfrm>
              <a:custGeom>
                <a:avLst/>
                <a:gdLst>
                  <a:gd name="T0" fmla="*/ 73 w 650"/>
                  <a:gd name="T1" fmla="*/ 208 h 208"/>
                  <a:gd name="T2" fmla="*/ 0 w 650"/>
                  <a:gd name="T3" fmla="*/ 106 h 208"/>
                  <a:gd name="T4" fmla="*/ 73 w 650"/>
                  <a:gd name="T5" fmla="*/ 0 h 208"/>
                  <a:gd name="T6" fmla="*/ 577 w 650"/>
                  <a:gd name="T7" fmla="*/ 0 h 208"/>
                  <a:gd name="T8" fmla="*/ 650 w 650"/>
                  <a:gd name="T9" fmla="*/ 106 h 208"/>
                  <a:gd name="T10" fmla="*/ 577 w 650"/>
                  <a:gd name="T11" fmla="*/ 208 h 208"/>
                  <a:gd name="T12" fmla="*/ 73 w 650"/>
                  <a:gd name="T13" fmla="*/ 208 h 208"/>
                  <a:gd name="T14" fmla="*/ 73 w 650"/>
                  <a:gd name="T15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50" h="208">
                    <a:moveTo>
                      <a:pt x="73" y="208"/>
                    </a:moveTo>
                    <a:cubicBezTo>
                      <a:pt x="33" y="208"/>
                      <a:pt x="0" y="164"/>
                      <a:pt x="0" y="106"/>
                    </a:cubicBezTo>
                    <a:cubicBezTo>
                      <a:pt x="0" y="48"/>
                      <a:pt x="33" y="0"/>
                      <a:pt x="73" y="0"/>
                    </a:cubicBezTo>
                    <a:cubicBezTo>
                      <a:pt x="577" y="0"/>
                      <a:pt x="577" y="0"/>
                      <a:pt x="577" y="0"/>
                    </a:cubicBezTo>
                    <a:cubicBezTo>
                      <a:pt x="617" y="0"/>
                      <a:pt x="650" y="48"/>
                      <a:pt x="650" y="106"/>
                    </a:cubicBezTo>
                    <a:cubicBezTo>
                      <a:pt x="650" y="164"/>
                      <a:pt x="617" y="208"/>
                      <a:pt x="577" y="208"/>
                    </a:cubicBezTo>
                    <a:cubicBezTo>
                      <a:pt x="73" y="208"/>
                      <a:pt x="73" y="208"/>
                      <a:pt x="73" y="208"/>
                    </a:cubicBezTo>
                    <a:cubicBezTo>
                      <a:pt x="73" y="208"/>
                      <a:pt x="73" y="208"/>
                      <a:pt x="73" y="2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s-ES" dirty="0"/>
              </a:p>
            </p:txBody>
          </p:sp>
          <p:sp>
            <p:nvSpPr>
              <p:cNvPr id="39" name="Freeform 43">
                <a:extLst>
                  <a:ext uri="{FF2B5EF4-FFF2-40B4-BE49-F238E27FC236}">
                    <a16:creationId xmlns:a16="http://schemas.microsoft.com/office/drawing/2014/main" id="{1D483B47-E3B4-44C6-9200-1BE8FBA22A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1708" y="4545783"/>
                <a:ext cx="251310" cy="435757"/>
              </a:xfrm>
              <a:custGeom>
                <a:avLst/>
                <a:gdLst>
                  <a:gd name="T0" fmla="*/ 224 w 377"/>
                  <a:gd name="T1" fmla="*/ 600 h 654"/>
                  <a:gd name="T2" fmla="*/ 99 w 377"/>
                  <a:gd name="T3" fmla="*/ 637 h 654"/>
                  <a:gd name="T4" fmla="*/ 14 w 377"/>
                  <a:gd name="T5" fmla="*/ 538 h 654"/>
                  <a:gd name="T6" fmla="*/ 152 w 377"/>
                  <a:gd name="T7" fmla="*/ 57 h 654"/>
                  <a:gd name="T8" fmla="*/ 278 w 377"/>
                  <a:gd name="T9" fmla="*/ 16 h 654"/>
                  <a:gd name="T10" fmla="*/ 367 w 377"/>
                  <a:gd name="T11" fmla="*/ 117 h 654"/>
                  <a:gd name="T12" fmla="*/ 224 w 377"/>
                  <a:gd name="T13" fmla="*/ 600 h 654"/>
                  <a:gd name="T14" fmla="*/ 224 w 377"/>
                  <a:gd name="T15" fmla="*/ 600 h 6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77" h="654">
                    <a:moveTo>
                      <a:pt x="224" y="600"/>
                    </a:moveTo>
                    <a:cubicBezTo>
                      <a:pt x="214" y="639"/>
                      <a:pt x="159" y="654"/>
                      <a:pt x="99" y="637"/>
                    </a:cubicBezTo>
                    <a:cubicBezTo>
                      <a:pt x="39" y="620"/>
                      <a:pt x="0" y="576"/>
                      <a:pt x="14" y="538"/>
                    </a:cubicBezTo>
                    <a:cubicBezTo>
                      <a:pt x="152" y="57"/>
                      <a:pt x="152" y="57"/>
                      <a:pt x="152" y="57"/>
                    </a:cubicBezTo>
                    <a:cubicBezTo>
                      <a:pt x="165" y="19"/>
                      <a:pt x="222" y="0"/>
                      <a:pt x="278" y="16"/>
                    </a:cubicBezTo>
                    <a:cubicBezTo>
                      <a:pt x="338" y="33"/>
                      <a:pt x="377" y="78"/>
                      <a:pt x="367" y="117"/>
                    </a:cubicBezTo>
                    <a:cubicBezTo>
                      <a:pt x="224" y="600"/>
                      <a:pt x="224" y="600"/>
                      <a:pt x="224" y="600"/>
                    </a:cubicBezTo>
                    <a:cubicBezTo>
                      <a:pt x="224" y="600"/>
                      <a:pt x="224" y="600"/>
                      <a:pt x="224" y="60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s-ES" dirty="0"/>
              </a:p>
            </p:txBody>
          </p:sp>
          <p:sp>
            <p:nvSpPr>
              <p:cNvPr id="40" name="Freeform 44">
                <a:extLst>
                  <a:ext uri="{FF2B5EF4-FFF2-40B4-BE49-F238E27FC236}">
                    <a16:creationId xmlns:a16="http://schemas.microsoft.com/office/drawing/2014/main" id="{F40A158F-AF49-4F32-89ED-574807B20F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4955" y="4682966"/>
                <a:ext cx="201740" cy="442674"/>
              </a:xfrm>
              <a:custGeom>
                <a:avLst/>
                <a:gdLst>
                  <a:gd name="T0" fmla="*/ 293 w 304"/>
                  <a:gd name="T1" fmla="*/ 544 h 664"/>
                  <a:gd name="T2" fmla="*/ 227 w 304"/>
                  <a:gd name="T3" fmla="*/ 653 h 664"/>
                  <a:gd name="T4" fmla="*/ 117 w 304"/>
                  <a:gd name="T5" fmla="*/ 584 h 664"/>
                  <a:gd name="T6" fmla="*/ 11 w 304"/>
                  <a:gd name="T7" fmla="*/ 117 h 664"/>
                  <a:gd name="T8" fmla="*/ 80 w 304"/>
                  <a:gd name="T9" fmla="*/ 11 h 664"/>
                  <a:gd name="T10" fmla="*/ 190 w 304"/>
                  <a:gd name="T11" fmla="*/ 77 h 664"/>
                  <a:gd name="T12" fmla="*/ 293 w 304"/>
                  <a:gd name="T13" fmla="*/ 544 h 664"/>
                  <a:gd name="T14" fmla="*/ 293 w 304"/>
                  <a:gd name="T15" fmla="*/ 544 h 6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4" h="664">
                    <a:moveTo>
                      <a:pt x="293" y="544"/>
                    </a:moveTo>
                    <a:cubicBezTo>
                      <a:pt x="304" y="591"/>
                      <a:pt x="275" y="642"/>
                      <a:pt x="227" y="653"/>
                    </a:cubicBezTo>
                    <a:cubicBezTo>
                      <a:pt x="176" y="664"/>
                      <a:pt x="128" y="631"/>
                      <a:pt x="117" y="584"/>
                    </a:cubicBezTo>
                    <a:cubicBezTo>
                      <a:pt x="11" y="117"/>
                      <a:pt x="11" y="117"/>
                      <a:pt x="11" y="117"/>
                    </a:cubicBezTo>
                    <a:cubicBezTo>
                      <a:pt x="0" y="70"/>
                      <a:pt x="29" y="22"/>
                      <a:pt x="80" y="11"/>
                    </a:cubicBezTo>
                    <a:cubicBezTo>
                      <a:pt x="128" y="0"/>
                      <a:pt x="179" y="29"/>
                      <a:pt x="190" y="77"/>
                    </a:cubicBezTo>
                    <a:cubicBezTo>
                      <a:pt x="293" y="544"/>
                      <a:pt x="293" y="544"/>
                      <a:pt x="293" y="544"/>
                    </a:cubicBezTo>
                    <a:cubicBezTo>
                      <a:pt x="293" y="544"/>
                      <a:pt x="293" y="544"/>
                      <a:pt x="293" y="5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s-ES" dirty="0"/>
              </a:p>
            </p:txBody>
          </p:sp>
          <p:sp>
            <p:nvSpPr>
              <p:cNvPr id="41" name="Freeform 45">
                <a:extLst>
                  <a:ext uri="{FF2B5EF4-FFF2-40B4-BE49-F238E27FC236}">
                    <a16:creationId xmlns:a16="http://schemas.microsoft.com/office/drawing/2014/main" id="{CA37C47D-6535-449B-BC85-923D5B98FE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4471" y="4996526"/>
                <a:ext cx="350450" cy="122196"/>
              </a:xfrm>
              <a:custGeom>
                <a:avLst/>
                <a:gdLst>
                  <a:gd name="T0" fmla="*/ 452 w 525"/>
                  <a:gd name="T1" fmla="*/ 0 h 183"/>
                  <a:gd name="T2" fmla="*/ 525 w 525"/>
                  <a:gd name="T3" fmla="*/ 91 h 183"/>
                  <a:gd name="T4" fmla="*/ 456 w 525"/>
                  <a:gd name="T5" fmla="*/ 183 h 183"/>
                  <a:gd name="T6" fmla="*/ 73 w 525"/>
                  <a:gd name="T7" fmla="*/ 183 h 183"/>
                  <a:gd name="T8" fmla="*/ 0 w 525"/>
                  <a:gd name="T9" fmla="*/ 95 h 183"/>
                  <a:gd name="T10" fmla="*/ 69 w 525"/>
                  <a:gd name="T11" fmla="*/ 3 h 183"/>
                  <a:gd name="T12" fmla="*/ 452 w 525"/>
                  <a:gd name="T13" fmla="*/ 0 h 183"/>
                  <a:gd name="T14" fmla="*/ 452 w 525"/>
                  <a:gd name="T15" fmla="*/ 0 h 1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25" h="183">
                    <a:moveTo>
                      <a:pt x="452" y="0"/>
                    </a:moveTo>
                    <a:cubicBezTo>
                      <a:pt x="493" y="0"/>
                      <a:pt x="525" y="40"/>
                      <a:pt x="525" y="91"/>
                    </a:cubicBezTo>
                    <a:cubicBezTo>
                      <a:pt x="525" y="139"/>
                      <a:pt x="496" y="183"/>
                      <a:pt x="456" y="183"/>
                    </a:cubicBezTo>
                    <a:cubicBezTo>
                      <a:pt x="73" y="183"/>
                      <a:pt x="73" y="183"/>
                      <a:pt x="73" y="183"/>
                    </a:cubicBezTo>
                    <a:cubicBezTo>
                      <a:pt x="32" y="183"/>
                      <a:pt x="0" y="143"/>
                      <a:pt x="0" y="95"/>
                    </a:cubicBezTo>
                    <a:cubicBezTo>
                      <a:pt x="0" y="44"/>
                      <a:pt x="29" y="3"/>
                      <a:pt x="69" y="3"/>
                    </a:cubicBezTo>
                    <a:cubicBezTo>
                      <a:pt x="452" y="0"/>
                      <a:pt x="452" y="0"/>
                      <a:pt x="452" y="0"/>
                    </a:cubicBezTo>
                    <a:cubicBezTo>
                      <a:pt x="452" y="0"/>
                      <a:pt x="452" y="0"/>
                      <a:pt x="45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s-ES" dirty="0"/>
              </a:p>
            </p:txBody>
          </p:sp>
          <p:sp>
            <p:nvSpPr>
              <p:cNvPr id="42" name="Freeform 46">
                <a:extLst>
                  <a:ext uri="{FF2B5EF4-FFF2-40B4-BE49-F238E27FC236}">
                    <a16:creationId xmlns:a16="http://schemas.microsoft.com/office/drawing/2014/main" id="{5F29CD04-D373-4B5E-BE23-F352BBE026B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78196" y="4333668"/>
                <a:ext cx="772374" cy="507230"/>
              </a:xfrm>
              <a:custGeom>
                <a:avLst/>
                <a:gdLst>
                  <a:gd name="T0" fmla="*/ 273 w 1159"/>
                  <a:gd name="T1" fmla="*/ 0 h 760"/>
                  <a:gd name="T2" fmla="*/ 414 w 1159"/>
                  <a:gd name="T3" fmla="*/ 579 h 760"/>
                  <a:gd name="T4" fmla="*/ 466 w 1159"/>
                  <a:gd name="T5" fmla="*/ 585 h 760"/>
                  <a:gd name="T6" fmla="*/ 585 w 1159"/>
                  <a:gd name="T7" fmla="*/ 579 h 760"/>
                  <a:gd name="T8" fmla="*/ 569 w 1159"/>
                  <a:gd name="T9" fmla="*/ 546 h 760"/>
                  <a:gd name="T10" fmla="*/ 526 w 1159"/>
                  <a:gd name="T11" fmla="*/ 527 h 760"/>
                  <a:gd name="T12" fmla="*/ 386 w 1159"/>
                  <a:gd name="T13" fmla="*/ 527 h 760"/>
                  <a:gd name="T14" fmla="*/ 633 w 1159"/>
                  <a:gd name="T15" fmla="*/ 628 h 760"/>
                  <a:gd name="T16" fmla="*/ 600 w 1159"/>
                  <a:gd name="T17" fmla="*/ 625 h 760"/>
                  <a:gd name="T18" fmla="*/ 484 w 1159"/>
                  <a:gd name="T19" fmla="*/ 614 h 760"/>
                  <a:gd name="T20" fmla="*/ 396 w 1159"/>
                  <a:gd name="T21" fmla="*/ 606 h 760"/>
                  <a:gd name="T22" fmla="*/ 331 w 1159"/>
                  <a:gd name="T23" fmla="*/ 484 h 760"/>
                  <a:gd name="T24" fmla="*/ 3 w 1159"/>
                  <a:gd name="T25" fmla="*/ 711 h 760"/>
                  <a:gd name="T26" fmla="*/ 244 w 1159"/>
                  <a:gd name="T27" fmla="*/ 683 h 760"/>
                  <a:gd name="T28" fmla="*/ 192 w 1159"/>
                  <a:gd name="T29" fmla="*/ 541 h 760"/>
                  <a:gd name="T30" fmla="*/ 265 w 1159"/>
                  <a:gd name="T31" fmla="*/ 685 h 760"/>
                  <a:gd name="T32" fmla="*/ 621 w 1159"/>
                  <a:gd name="T33" fmla="*/ 760 h 760"/>
                  <a:gd name="T34" fmla="*/ 688 w 1159"/>
                  <a:gd name="T35" fmla="*/ 700 h 760"/>
                  <a:gd name="T36" fmla="*/ 1136 w 1159"/>
                  <a:gd name="T37" fmla="*/ 335 h 760"/>
                  <a:gd name="T38" fmla="*/ 893 w 1159"/>
                  <a:gd name="T39" fmla="*/ 231 h 760"/>
                  <a:gd name="T40" fmla="*/ 881 w 1159"/>
                  <a:gd name="T41" fmla="*/ 227 h 760"/>
                  <a:gd name="T42" fmla="*/ 748 w 1159"/>
                  <a:gd name="T43" fmla="*/ 530 h 760"/>
                  <a:gd name="T44" fmla="*/ 946 w 1159"/>
                  <a:gd name="T45" fmla="*/ 706 h 760"/>
                  <a:gd name="T46" fmla="*/ 959 w 1159"/>
                  <a:gd name="T47" fmla="*/ 713 h 760"/>
                  <a:gd name="T48" fmla="*/ 1003 w 1159"/>
                  <a:gd name="T49" fmla="*/ 698 h 760"/>
                  <a:gd name="T50" fmla="*/ 956 w 1159"/>
                  <a:gd name="T51" fmla="*/ 663 h 760"/>
                  <a:gd name="T52" fmla="*/ 1093 w 1159"/>
                  <a:gd name="T53" fmla="*/ 352 h 760"/>
                  <a:gd name="T54" fmla="*/ 748 w 1159"/>
                  <a:gd name="T55" fmla="*/ 541 h 760"/>
                  <a:gd name="T56" fmla="*/ 603 w 1159"/>
                  <a:gd name="T57" fmla="*/ 546 h 760"/>
                  <a:gd name="T58" fmla="*/ 608 w 1159"/>
                  <a:gd name="T59" fmla="*/ 557 h 760"/>
                  <a:gd name="T60" fmla="*/ 623 w 1159"/>
                  <a:gd name="T61" fmla="*/ 599 h 760"/>
                  <a:gd name="T62" fmla="*/ 673 w 1159"/>
                  <a:gd name="T63" fmla="*/ 616 h 760"/>
                  <a:gd name="T64" fmla="*/ 711 w 1159"/>
                  <a:gd name="T65" fmla="*/ 662 h 760"/>
                  <a:gd name="T66" fmla="*/ 716 w 1159"/>
                  <a:gd name="T67" fmla="*/ 692 h 760"/>
                  <a:gd name="T68" fmla="*/ 721 w 1159"/>
                  <a:gd name="T69" fmla="*/ 709 h 760"/>
                  <a:gd name="T70" fmla="*/ 914 w 1159"/>
                  <a:gd name="T71" fmla="*/ 760 h 760"/>
                  <a:gd name="T72" fmla="*/ 922 w 1159"/>
                  <a:gd name="T73" fmla="*/ 709 h 760"/>
                  <a:gd name="T74" fmla="*/ 828 w 1159"/>
                  <a:gd name="T75" fmla="*/ 675 h 760"/>
                  <a:gd name="T76" fmla="*/ 817 w 1159"/>
                  <a:gd name="T77" fmla="*/ 662 h 760"/>
                  <a:gd name="T78" fmla="*/ 802 w 1159"/>
                  <a:gd name="T79" fmla="*/ 646 h 760"/>
                  <a:gd name="T80" fmla="*/ 789 w 1159"/>
                  <a:gd name="T81" fmla="*/ 633 h 760"/>
                  <a:gd name="T82" fmla="*/ 762 w 1159"/>
                  <a:gd name="T83" fmla="*/ 603 h 760"/>
                  <a:gd name="T84" fmla="*/ 740 w 1159"/>
                  <a:gd name="T85" fmla="*/ 603 h 760"/>
                  <a:gd name="T86" fmla="*/ 747 w 1159"/>
                  <a:gd name="T87" fmla="*/ 587 h 760"/>
                  <a:gd name="T88" fmla="*/ 735 w 1159"/>
                  <a:gd name="T89" fmla="*/ 573 h 760"/>
                  <a:gd name="T90" fmla="*/ 710 w 1159"/>
                  <a:gd name="T91" fmla="*/ 546 h 760"/>
                  <a:gd name="T92" fmla="*/ 691 w 1159"/>
                  <a:gd name="T93" fmla="*/ 546 h 760"/>
                  <a:gd name="T94" fmla="*/ 627 w 1159"/>
                  <a:gd name="T95" fmla="*/ 587 h 760"/>
                  <a:gd name="T96" fmla="*/ 648 w 1159"/>
                  <a:gd name="T97" fmla="*/ 587 h 760"/>
                  <a:gd name="T98" fmla="*/ 652 w 1159"/>
                  <a:gd name="T99" fmla="*/ 557 h 760"/>
                  <a:gd name="T100" fmla="*/ 672 w 1159"/>
                  <a:gd name="T101" fmla="*/ 557 h 760"/>
                  <a:gd name="T102" fmla="*/ 676 w 1159"/>
                  <a:gd name="T103" fmla="*/ 587 h 760"/>
                  <a:gd name="T104" fmla="*/ 698 w 1159"/>
                  <a:gd name="T105" fmla="*/ 587 h 760"/>
                  <a:gd name="T106" fmla="*/ 701 w 1159"/>
                  <a:gd name="T107" fmla="*/ 616 h 760"/>
                  <a:gd name="T108" fmla="*/ 723 w 1159"/>
                  <a:gd name="T109" fmla="*/ 616 h 760"/>
                  <a:gd name="T110" fmla="*/ 724 w 1159"/>
                  <a:gd name="T111" fmla="*/ 646 h 760"/>
                  <a:gd name="T112" fmla="*/ 749 w 1159"/>
                  <a:gd name="T113" fmla="*/ 646 h 760"/>
                  <a:gd name="T114" fmla="*/ 738 w 1159"/>
                  <a:gd name="T115" fmla="*/ 662 h 760"/>
                  <a:gd name="T116" fmla="*/ 749 w 1159"/>
                  <a:gd name="T117" fmla="*/ 675 h 760"/>
                  <a:gd name="T118" fmla="*/ 776 w 1159"/>
                  <a:gd name="T119" fmla="*/ 709 h 760"/>
                  <a:gd name="T120" fmla="*/ 804 w 1159"/>
                  <a:gd name="T121" fmla="*/ 709 h 760"/>
                  <a:gd name="T122" fmla="*/ 832 w 1159"/>
                  <a:gd name="T123" fmla="*/ 709 h 760"/>
                  <a:gd name="T124" fmla="*/ 859 w 1159"/>
                  <a:gd name="T125" fmla="*/ 709 h 7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159" h="760">
                    <a:moveTo>
                      <a:pt x="273" y="293"/>
                    </a:moveTo>
                    <a:cubicBezTo>
                      <a:pt x="354" y="293"/>
                      <a:pt x="419" y="227"/>
                      <a:pt x="419" y="147"/>
                    </a:cubicBezTo>
                    <a:cubicBezTo>
                      <a:pt x="419" y="66"/>
                      <a:pt x="354" y="0"/>
                      <a:pt x="273" y="0"/>
                    </a:cubicBezTo>
                    <a:cubicBezTo>
                      <a:pt x="193" y="0"/>
                      <a:pt x="127" y="66"/>
                      <a:pt x="127" y="147"/>
                    </a:cubicBezTo>
                    <a:cubicBezTo>
                      <a:pt x="127" y="227"/>
                      <a:pt x="193" y="293"/>
                      <a:pt x="273" y="293"/>
                    </a:cubicBezTo>
                    <a:close/>
                    <a:moveTo>
                      <a:pt x="414" y="579"/>
                    </a:moveTo>
                    <a:cubicBezTo>
                      <a:pt x="444" y="583"/>
                      <a:pt x="444" y="583"/>
                      <a:pt x="444" y="583"/>
                    </a:cubicBezTo>
                    <a:cubicBezTo>
                      <a:pt x="455" y="584"/>
                      <a:pt x="455" y="584"/>
                      <a:pt x="455" y="584"/>
                    </a:cubicBezTo>
                    <a:cubicBezTo>
                      <a:pt x="466" y="585"/>
                      <a:pt x="466" y="585"/>
                      <a:pt x="466" y="585"/>
                    </a:cubicBezTo>
                    <a:cubicBezTo>
                      <a:pt x="584" y="595"/>
                      <a:pt x="584" y="595"/>
                      <a:pt x="584" y="595"/>
                    </a:cubicBezTo>
                    <a:cubicBezTo>
                      <a:pt x="584" y="595"/>
                      <a:pt x="584" y="595"/>
                      <a:pt x="584" y="595"/>
                    </a:cubicBezTo>
                    <a:cubicBezTo>
                      <a:pt x="585" y="589"/>
                      <a:pt x="585" y="585"/>
                      <a:pt x="585" y="579"/>
                    </a:cubicBezTo>
                    <a:cubicBezTo>
                      <a:pt x="585" y="577"/>
                      <a:pt x="584" y="575"/>
                      <a:pt x="584" y="573"/>
                    </a:cubicBezTo>
                    <a:cubicBezTo>
                      <a:pt x="581" y="563"/>
                      <a:pt x="576" y="554"/>
                      <a:pt x="569" y="546"/>
                    </a:cubicBezTo>
                    <a:cubicBezTo>
                      <a:pt x="569" y="546"/>
                      <a:pt x="569" y="546"/>
                      <a:pt x="569" y="546"/>
                    </a:cubicBezTo>
                    <a:cubicBezTo>
                      <a:pt x="561" y="538"/>
                      <a:pt x="552" y="532"/>
                      <a:pt x="542" y="529"/>
                    </a:cubicBezTo>
                    <a:cubicBezTo>
                      <a:pt x="538" y="528"/>
                      <a:pt x="532" y="527"/>
                      <a:pt x="527" y="527"/>
                    </a:cubicBezTo>
                    <a:cubicBezTo>
                      <a:pt x="526" y="527"/>
                      <a:pt x="526" y="527"/>
                      <a:pt x="526" y="527"/>
                    </a:cubicBezTo>
                    <a:cubicBezTo>
                      <a:pt x="456" y="527"/>
                      <a:pt x="456" y="527"/>
                      <a:pt x="456" y="527"/>
                    </a:cubicBezTo>
                    <a:cubicBezTo>
                      <a:pt x="443" y="527"/>
                      <a:pt x="443" y="527"/>
                      <a:pt x="443" y="527"/>
                    </a:cubicBezTo>
                    <a:cubicBezTo>
                      <a:pt x="386" y="527"/>
                      <a:pt x="386" y="527"/>
                      <a:pt x="386" y="527"/>
                    </a:cubicBezTo>
                    <a:cubicBezTo>
                      <a:pt x="414" y="579"/>
                      <a:pt x="414" y="579"/>
                      <a:pt x="414" y="579"/>
                    </a:cubicBezTo>
                    <a:cubicBezTo>
                      <a:pt x="414" y="579"/>
                      <a:pt x="414" y="579"/>
                      <a:pt x="414" y="579"/>
                    </a:cubicBezTo>
                    <a:close/>
                    <a:moveTo>
                      <a:pt x="633" y="628"/>
                    </a:moveTo>
                    <a:cubicBezTo>
                      <a:pt x="628" y="627"/>
                      <a:pt x="625" y="627"/>
                      <a:pt x="622" y="626"/>
                    </a:cubicBezTo>
                    <a:cubicBezTo>
                      <a:pt x="606" y="625"/>
                      <a:pt x="606" y="625"/>
                      <a:pt x="606" y="625"/>
                    </a:cubicBezTo>
                    <a:cubicBezTo>
                      <a:pt x="600" y="625"/>
                      <a:pt x="600" y="625"/>
                      <a:pt x="600" y="625"/>
                    </a:cubicBezTo>
                    <a:cubicBezTo>
                      <a:pt x="585" y="623"/>
                      <a:pt x="585" y="623"/>
                      <a:pt x="585" y="623"/>
                    </a:cubicBezTo>
                    <a:cubicBezTo>
                      <a:pt x="566" y="622"/>
                      <a:pt x="566" y="622"/>
                      <a:pt x="566" y="622"/>
                    </a:cubicBezTo>
                    <a:cubicBezTo>
                      <a:pt x="484" y="614"/>
                      <a:pt x="484" y="614"/>
                      <a:pt x="484" y="614"/>
                    </a:cubicBezTo>
                    <a:cubicBezTo>
                      <a:pt x="473" y="613"/>
                      <a:pt x="473" y="613"/>
                      <a:pt x="473" y="613"/>
                    </a:cubicBezTo>
                    <a:cubicBezTo>
                      <a:pt x="461" y="612"/>
                      <a:pt x="461" y="612"/>
                      <a:pt x="461" y="612"/>
                    </a:cubicBezTo>
                    <a:cubicBezTo>
                      <a:pt x="396" y="606"/>
                      <a:pt x="396" y="606"/>
                      <a:pt x="396" y="606"/>
                    </a:cubicBezTo>
                    <a:cubicBezTo>
                      <a:pt x="355" y="527"/>
                      <a:pt x="355" y="527"/>
                      <a:pt x="355" y="527"/>
                    </a:cubicBezTo>
                    <a:cubicBezTo>
                      <a:pt x="339" y="499"/>
                      <a:pt x="339" y="499"/>
                      <a:pt x="339" y="499"/>
                    </a:cubicBezTo>
                    <a:cubicBezTo>
                      <a:pt x="331" y="484"/>
                      <a:pt x="331" y="484"/>
                      <a:pt x="331" y="484"/>
                    </a:cubicBezTo>
                    <a:cubicBezTo>
                      <a:pt x="288" y="395"/>
                      <a:pt x="245" y="317"/>
                      <a:pt x="152" y="317"/>
                    </a:cubicBezTo>
                    <a:cubicBezTo>
                      <a:pt x="82" y="317"/>
                      <a:pt x="28" y="375"/>
                      <a:pt x="19" y="466"/>
                    </a:cubicBezTo>
                    <a:cubicBezTo>
                      <a:pt x="3" y="711"/>
                      <a:pt x="3" y="711"/>
                      <a:pt x="3" y="711"/>
                    </a:cubicBezTo>
                    <a:cubicBezTo>
                      <a:pt x="0" y="739"/>
                      <a:pt x="22" y="760"/>
                      <a:pt x="50" y="760"/>
                    </a:cubicBezTo>
                    <a:cubicBezTo>
                      <a:pt x="273" y="760"/>
                      <a:pt x="273" y="760"/>
                      <a:pt x="273" y="760"/>
                    </a:cubicBezTo>
                    <a:cubicBezTo>
                      <a:pt x="244" y="683"/>
                      <a:pt x="244" y="683"/>
                      <a:pt x="244" y="683"/>
                    </a:cubicBezTo>
                    <a:cubicBezTo>
                      <a:pt x="237" y="666"/>
                      <a:pt x="237" y="666"/>
                      <a:pt x="237" y="666"/>
                    </a:cubicBezTo>
                    <a:cubicBezTo>
                      <a:pt x="231" y="647"/>
                      <a:pt x="231" y="647"/>
                      <a:pt x="231" y="647"/>
                    </a:cubicBezTo>
                    <a:cubicBezTo>
                      <a:pt x="192" y="541"/>
                      <a:pt x="192" y="541"/>
                      <a:pt x="192" y="541"/>
                    </a:cubicBezTo>
                    <a:cubicBezTo>
                      <a:pt x="250" y="655"/>
                      <a:pt x="250" y="655"/>
                      <a:pt x="250" y="655"/>
                    </a:cubicBezTo>
                    <a:cubicBezTo>
                      <a:pt x="259" y="671"/>
                      <a:pt x="259" y="671"/>
                      <a:pt x="259" y="671"/>
                    </a:cubicBezTo>
                    <a:cubicBezTo>
                      <a:pt x="265" y="685"/>
                      <a:pt x="265" y="685"/>
                      <a:pt x="265" y="685"/>
                    </a:cubicBezTo>
                    <a:cubicBezTo>
                      <a:pt x="280" y="713"/>
                      <a:pt x="280" y="713"/>
                      <a:pt x="280" y="713"/>
                    </a:cubicBezTo>
                    <a:cubicBezTo>
                      <a:pt x="294" y="742"/>
                      <a:pt x="323" y="760"/>
                      <a:pt x="355" y="760"/>
                    </a:cubicBezTo>
                    <a:cubicBezTo>
                      <a:pt x="621" y="760"/>
                      <a:pt x="621" y="760"/>
                      <a:pt x="621" y="760"/>
                    </a:cubicBezTo>
                    <a:cubicBezTo>
                      <a:pt x="622" y="760"/>
                      <a:pt x="624" y="760"/>
                      <a:pt x="625" y="760"/>
                    </a:cubicBezTo>
                    <a:cubicBezTo>
                      <a:pt x="657" y="758"/>
                      <a:pt x="682" y="738"/>
                      <a:pt x="686" y="709"/>
                    </a:cubicBezTo>
                    <a:cubicBezTo>
                      <a:pt x="688" y="706"/>
                      <a:pt x="688" y="703"/>
                      <a:pt x="688" y="700"/>
                    </a:cubicBezTo>
                    <a:cubicBezTo>
                      <a:pt x="688" y="699"/>
                      <a:pt x="688" y="699"/>
                      <a:pt x="688" y="699"/>
                    </a:cubicBezTo>
                    <a:cubicBezTo>
                      <a:pt x="688" y="665"/>
                      <a:pt x="664" y="636"/>
                      <a:pt x="633" y="628"/>
                    </a:cubicBezTo>
                    <a:close/>
                    <a:moveTo>
                      <a:pt x="1136" y="335"/>
                    </a:moveTo>
                    <a:cubicBezTo>
                      <a:pt x="1136" y="335"/>
                      <a:pt x="1136" y="335"/>
                      <a:pt x="1136" y="335"/>
                    </a:cubicBezTo>
                    <a:cubicBezTo>
                      <a:pt x="1135" y="335"/>
                      <a:pt x="1135" y="333"/>
                      <a:pt x="1135" y="333"/>
                    </a:cubicBezTo>
                    <a:cubicBezTo>
                      <a:pt x="893" y="231"/>
                      <a:pt x="893" y="231"/>
                      <a:pt x="893" y="231"/>
                    </a:cubicBezTo>
                    <a:cubicBezTo>
                      <a:pt x="893" y="231"/>
                      <a:pt x="893" y="231"/>
                      <a:pt x="893" y="231"/>
                    </a:cubicBezTo>
                    <a:cubicBezTo>
                      <a:pt x="891" y="230"/>
                      <a:pt x="889" y="228"/>
                      <a:pt x="886" y="227"/>
                    </a:cubicBezTo>
                    <a:cubicBezTo>
                      <a:pt x="884" y="227"/>
                      <a:pt x="883" y="227"/>
                      <a:pt x="881" y="227"/>
                    </a:cubicBezTo>
                    <a:cubicBezTo>
                      <a:pt x="873" y="227"/>
                      <a:pt x="865" y="231"/>
                      <a:pt x="862" y="237"/>
                    </a:cubicBezTo>
                    <a:cubicBezTo>
                      <a:pt x="745" y="519"/>
                      <a:pt x="745" y="519"/>
                      <a:pt x="745" y="519"/>
                    </a:cubicBezTo>
                    <a:cubicBezTo>
                      <a:pt x="743" y="522"/>
                      <a:pt x="743" y="527"/>
                      <a:pt x="748" y="530"/>
                    </a:cubicBezTo>
                    <a:cubicBezTo>
                      <a:pt x="748" y="531"/>
                      <a:pt x="748" y="531"/>
                      <a:pt x="748" y="531"/>
                    </a:cubicBezTo>
                    <a:cubicBezTo>
                      <a:pt x="946" y="706"/>
                      <a:pt x="946" y="706"/>
                      <a:pt x="946" y="706"/>
                    </a:cubicBezTo>
                    <a:cubicBezTo>
                      <a:pt x="946" y="706"/>
                      <a:pt x="946" y="706"/>
                      <a:pt x="946" y="706"/>
                    </a:cubicBezTo>
                    <a:cubicBezTo>
                      <a:pt x="946" y="706"/>
                      <a:pt x="946" y="706"/>
                      <a:pt x="946" y="706"/>
                    </a:cubicBezTo>
                    <a:cubicBezTo>
                      <a:pt x="948" y="708"/>
                      <a:pt x="948" y="708"/>
                      <a:pt x="948" y="708"/>
                    </a:cubicBezTo>
                    <a:cubicBezTo>
                      <a:pt x="951" y="710"/>
                      <a:pt x="955" y="712"/>
                      <a:pt x="959" y="713"/>
                    </a:cubicBezTo>
                    <a:cubicBezTo>
                      <a:pt x="960" y="713"/>
                      <a:pt x="961" y="713"/>
                      <a:pt x="962" y="713"/>
                    </a:cubicBezTo>
                    <a:cubicBezTo>
                      <a:pt x="966" y="714"/>
                      <a:pt x="969" y="714"/>
                      <a:pt x="972" y="714"/>
                    </a:cubicBezTo>
                    <a:cubicBezTo>
                      <a:pt x="985" y="714"/>
                      <a:pt x="997" y="710"/>
                      <a:pt x="1003" y="698"/>
                    </a:cubicBezTo>
                    <a:cubicBezTo>
                      <a:pt x="1010" y="684"/>
                      <a:pt x="1131" y="415"/>
                      <a:pt x="1143" y="384"/>
                    </a:cubicBezTo>
                    <a:cubicBezTo>
                      <a:pt x="1159" y="343"/>
                      <a:pt x="1136" y="335"/>
                      <a:pt x="1136" y="335"/>
                    </a:cubicBezTo>
                    <a:close/>
                    <a:moveTo>
                      <a:pt x="956" y="663"/>
                    </a:moveTo>
                    <a:cubicBezTo>
                      <a:pt x="776" y="520"/>
                      <a:pt x="776" y="520"/>
                      <a:pt x="776" y="520"/>
                    </a:cubicBezTo>
                    <a:cubicBezTo>
                      <a:pt x="882" y="261"/>
                      <a:pt x="882" y="261"/>
                      <a:pt x="882" y="261"/>
                    </a:cubicBezTo>
                    <a:cubicBezTo>
                      <a:pt x="1093" y="352"/>
                      <a:pt x="1093" y="352"/>
                      <a:pt x="1093" y="352"/>
                    </a:cubicBezTo>
                    <a:cubicBezTo>
                      <a:pt x="956" y="663"/>
                      <a:pt x="956" y="663"/>
                      <a:pt x="956" y="663"/>
                    </a:cubicBezTo>
                    <a:cubicBezTo>
                      <a:pt x="956" y="663"/>
                      <a:pt x="956" y="663"/>
                      <a:pt x="956" y="663"/>
                    </a:cubicBezTo>
                    <a:close/>
                    <a:moveTo>
                      <a:pt x="748" y="541"/>
                    </a:moveTo>
                    <a:cubicBezTo>
                      <a:pt x="740" y="535"/>
                      <a:pt x="726" y="529"/>
                      <a:pt x="713" y="529"/>
                    </a:cubicBezTo>
                    <a:cubicBezTo>
                      <a:pt x="592" y="529"/>
                      <a:pt x="592" y="529"/>
                      <a:pt x="592" y="529"/>
                    </a:cubicBezTo>
                    <a:cubicBezTo>
                      <a:pt x="596" y="535"/>
                      <a:pt x="600" y="540"/>
                      <a:pt x="603" y="546"/>
                    </a:cubicBezTo>
                    <a:cubicBezTo>
                      <a:pt x="615" y="546"/>
                      <a:pt x="615" y="546"/>
                      <a:pt x="615" y="546"/>
                    </a:cubicBezTo>
                    <a:cubicBezTo>
                      <a:pt x="625" y="557"/>
                      <a:pt x="625" y="557"/>
                      <a:pt x="625" y="557"/>
                    </a:cubicBezTo>
                    <a:cubicBezTo>
                      <a:pt x="608" y="557"/>
                      <a:pt x="608" y="557"/>
                      <a:pt x="608" y="557"/>
                    </a:cubicBezTo>
                    <a:cubicBezTo>
                      <a:pt x="611" y="564"/>
                      <a:pt x="612" y="570"/>
                      <a:pt x="613" y="577"/>
                    </a:cubicBezTo>
                    <a:cubicBezTo>
                      <a:pt x="613" y="585"/>
                      <a:pt x="613" y="592"/>
                      <a:pt x="612" y="598"/>
                    </a:cubicBezTo>
                    <a:cubicBezTo>
                      <a:pt x="623" y="599"/>
                      <a:pt x="623" y="599"/>
                      <a:pt x="623" y="599"/>
                    </a:cubicBezTo>
                    <a:cubicBezTo>
                      <a:pt x="631" y="599"/>
                      <a:pt x="637" y="600"/>
                      <a:pt x="644" y="603"/>
                    </a:cubicBezTo>
                    <a:cubicBezTo>
                      <a:pt x="662" y="603"/>
                      <a:pt x="662" y="603"/>
                      <a:pt x="662" y="603"/>
                    </a:cubicBezTo>
                    <a:cubicBezTo>
                      <a:pt x="673" y="616"/>
                      <a:pt x="673" y="616"/>
                      <a:pt x="673" y="616"/>
                    </a:cubicBezTo>
                    <a:cubicBezTo>
                      <a:pt x="672" y="616"/>
                      <a:pt x="672" y="616"/>
                      <a:pt x="672" y="616"/>
                    </a:cubicBezTo>
                    <a:cubicBezTo>
                      <a:pt x="688" y="627"/>
                      <a:pt x="701" y="644"/>
                      <a:pt x="709" y="662"/>
                    </a:cubicBezTo>
                    <a:cubicBezTo>
                      <a:pt x="711" y="662"/>
                      <a:pt x="711" y="662"/>
                      <a:pt x="711" y="662"/>
                    </a:cubicBezTo>
                    <a:cubicBezTo>
                      <a:pt x="721" y="675"/>
                      <a:pt x="721" y="675"/>
                      <a:pt x="721" y="675"/>
                    </a:cubicBezTo>
                    <a:cubicBezTo>
                      <a:pt x="713" y="675"/>
                      <a:pt x="713" y="675"/>
                      <a:pt x="713" y="675"/>
                    </a:cubicBezTo>
                    <a:cubicBezTo>
                      <a:pt x="714" y="681"/>
                      <a:pt x="716" y="687"/>
                      <a:pt x="716" y="692"/>
                    </a:cubicBezTo>
                    <a:cubicBezTo>
                      <a:pt x="736" y="692"/>
                      <a:pt x="736" y="692"/>
                      <a:pt x="736" y="692"/>
                    </a:cubicBezTo>
                    <a:cubicBezTo>
                      <a:pt x="749" y="709"/>
                      <a:pt x="749" y="709"/>
                      <a:pt x="749" y="709"/>
                    </a:cubicBezTo>
                    <a:cubicBezTo>
                      <a:pt x="721" y="709"/>
                      <a:pt x="721" y="709"/>
                      <a:pt x="721" y="709"/>
                    </a:cubicBezTo>
                    <a:cubicBezTo>
                      <a:pt x="716" y="701"/>
                      <a:pt x="716" y="701"/>
                      <a:pt x="716" y="701"/>
                    </a:cubicBezTo>
                    <a:cubicBezTo>
                      <a:pt x="714" y="725"/>
                      <a:pt x="705" y="746"/>
                      <a:pt x="691" y="760"/>
                    </a:cubicBezTo>
                    <a:cubicBezTo>
                      <a:pt x="914" y="760"/>
                      <a:pt x="914" y="760"/>
                      <a:pt x="914" y="760"/>
                    </a:cubicBezTo>
                    <a:cubicBezTo>
                      <a:pt x="926" y="760"/>
                      <a:pt x="935" y="754"/>
                      <a:pt x="935" y="745"/>
                    </a:cubicBezTo>
                    <a:cubicBezTo>
                      <a:pt x="935" y="737"/>
                      <a:pt x="935" y="737"/>
                      <a:pt x="935" y="737"/>
                    </a:cubicBezTo>
                    <a:cubicBezTo>
                      <a:pt x="935" y="728"/>
                      <a:pt x="929" y="716"/>
                      <a:pt x="922" y="709"/>
                    </a:cubicBezTo>
                    <a:cubicBezTo>
                      <a:pt x="748" y="541"/>
                      <a:pt x="748" y="541"/>
                      <a:pt x="748" y="541"/>
                    </a:cubicBezTo>
                    <a:cubicBezTo>
                      <a:pt x="748" y="541"/>
                      <a:pt x="748" y="541"/>
                      <a:pt x="748" y="541"/>
                    </a:cubicBezTo>
                    <a:close/>
                    <a:moveTo>
                      <a:pt x="828" y="675"/>
                    </a:moveTo>
                    <a:cubicBezTo>
                      <a:pt x="803" y="675"/>
                      <a:pt x="803" y="675"/>
                      <a:pt x="803" y="675"/>
                    </a:cubicBezTo>
                    <a:cubicBezTo>
                      <a:pt x="791" y="662"/>
                      <a:pt x="791" y="662"/>
                      <a:pt x="791" y="662"/>
                    </a:cubicBezTo>
                    <a:cubicBezTo>
                      <a:pt x="817" y="662"/>
                      <a:pt x="817" y="662"/>
                      <a:pt x="817" y="662"/>
                    </a:cubicBezTo>
                    <a:cubicBezTo>
                      <a:pt x="828" y="675"/>
                      <a:pt x="828" y="675"/>
                      <a:pt x="828" y="675"/>
                    </a:cubicBezTo>
                    <a:cubicBezTo>
                      <a:pt x="828" y="675"/>
                      <a:pt x="828" y="675"/>
                      <a:pt x="828" y="675"/>
                    </a:cubicBezTo>
                    <a:close/>
                    <a:moveTo>
                      <a:pt x="802" y="646"/>
                    </a:moveTo>
                    <a:cubicBezTo>
                      <a:pt x="777" y="646"/>
                      <a:pt x="777" y="646"/>
                      <a:pt x="777" y="646"/>
                    </a:cubicBezTo>
                    <a:cubicBezTo>
                      <a:pt x="766" y="633"/>
                      <a:pt x="766" y="633"/>
                      <a:pt x="766" y="633"/>
                    </a:cubicBezTo>
                    <a:cubicBezTo>
                      <a:pt x="789" y="633"/>
                      <a:pt x="789" y="633"/>
                      <a:pt x="789" y="633"/>
                    </a:cubicBezTo>
                    <a:cubicBezTo>
                      <a:pt x="802" y="646"/>
                      <a:pt x="802" y="646"/>
                      <a:pt x="802" y="646"/>
                    </a:cubicBezTo>
                    <a:cubicBezTo>
                      <a:pt x="802" y="646"/>
                      <a:pt x="802" y="646"/>
                      <a:pt x="802" y="646"/>
                    </a:cubicBezTo>
                    <a:close/>
                    <a:moveTo>
                      <a:pt x="762" y="603"/>
                    </a:moveTo>
                    <a:cubicBezTo>
                      <a:pt x="775" y="616"/>
                      <a:pt x="775" y="616"/>
                      <a:pt x="775" y="616"/>
                    </a:cubicBezTo>
                    <a:cubicBezTo>
                      <a:pt x="751" y="616"/>
                      <a:pt x="751" y="616"/>
                      <a:pt x="751" y="616"/>
                    </a:cubicBezTo>
                    <a:cubicBezTo>
                      <a:pt x="740" y="603"/>
                      <a:pt x="740" y="603"/>
                      <a:pt x="740" y="603"/>
                    </a:cubicBezTo>
                    <a:cubicBezTo>
                      <a:pt x="762" y="603"/>
                      <a:pt x="762" y="603"/>
                      <a:pt x="762" y="603"/>
                    </a:cubicBezTo>
                    <a:cubicBezTo>
                      <a:pt x="762" y="603"/>
                      <a:pt x="762" y="603"/>
                      <a:pt x="762" y="603"/>
                    </a:cubicBezTo>
                    <a:close/>
                    <a:moveTo>
                      <a:pt x="747" y="587"/>
                    </a:moveTo>
                    <a:cubicBezTo>
                      <a:pt x="726" y="587"/>
                      <a:pt x="726" y="587"/>
                      <a:pt x="726" y="587"/>
                    </a:cubicBezTo>
                    <a:cubicBezTo>
                      <a:pt x="714" y="573"/>
                      <a:pt x="714" y="573"/>
                      <a:pt x="714" y="573"/>
                    </a:cubicBezTo>
                    <a:cubicBezTo>
                      <a:pt x="735" y="573"/>
                      <a:pt x="735" y="573"/>
                      <a:pt x="735" y="573"/>
                    </a:cubicBezTo>
                    <a:cubicBezTo>
                      <a:pt x="747" y="587"/>
                      <a:pt x="747" y="587"/>
                      <a:pt x="747" y="587"/>
                    </a:cubicBezTo>
                    <a:cubicBezTo>
                      <a:pt x="747" y="587"/>
                      <a:pt x="747" y="587"/>
                      <a:pt x="747" y="587"/>
                    </a:cubicBezTo>
                    <a:close/>
                    <a:moveTo>
                      <a:pt x="710" y="546"/>
                    </a:moveTo>
                    <a:cubicBezTo>
                      <a:pt x="720" y="557"/>
                      <a:pt x="720" y="557"/>
                      <a:pt x="720" y="557"/>
                    </a:cubicBezTo>
                    <a:cubicBezTo>
                      <a:pt x="700" y="557"/>
                      <a:pt x="700" y="557"/>
                      <a:pt x="700" y="557"/>
                    </a:cubicBezTo>
                    <a:cubicBezTo>
                      <a:pt x="691" y="546"/>
                      <a:pt x="691" y="546"/>
                      <a:pt x="691" y="546"/>
                    </a:cubicBezTo>
                    <a:cubicBezTo>
                      <a:pt x="710" y="546"/>
                      <a:pt x="710" y="546"/>
                      <a:pt x="710" y="546"/>
                    </a:cubicBezTo>
                    <a:cubicBezTo>
                      <a:pt x="710" y="546"/>
                      <a:pt x="710" y="546"/>
                      <a:pt x="710" y="546"/>
                    </a:cubicBezTo>
                    <a:close/>
                    <a:moveTo>
                      <a:pt x="627" y="587"/>
                    </a:moveTo>
                    <a:cubicBezTo>
                      <a:pt x="616" y="573"/>
                      <a:pt x="616" y="573"/>
                      <a:pt x="616" y="573"/>
                    </a:cubicBezTo>
                    <a:cubicBezTo>
                      <a:pt x="637" y="573"/>
                      <a:pt x="637" y="573"/>
                      <a:pt x="637" y="573"/>
                    </a:cubicBezTo>
                    <a:cubicBezTo>
                      <a:pt x="648" y="587"/>
                      <a:pt x="648" y="587"/>
                      <a:pt x="648" y="587"/>
                    </a:cubicBezTo>
                    <a:cubicBezTo>
                      <a:pt x="627" y="587"/>
                      <a:pt x="627" y="587"/>
                      <a:pt x="627" y="587"/>
                    </a:cubicBezTo>
                    <a:cubicBezTo>
                      <a:pt x="627" y="587"/>
                      <a:pt x="627" y="587"/>
                      <a:pt x="627" y="587"/>
                    </a:cubicBezTo>
                    <a:close/>
                    <a:moveTo>
                      <a:pt x="652" y="557"/>
                    </a:moveTo>
                    <a:cubicBezTo>
                      <a:pt x="643" y="546"/>
                      <a:pt x="643" y="546"/>
                      <a:pt x="643" y="546"/>
                    </a:cubicBezTo>
                    <a:cubicBezTo>
                      <a:pt x="663" y="546"/>
                      <a:pt x="663" y="546"/>
                      <a:pt x="663" y="546"/>
                    </a:cubicBezTo>
                    <a:cubicBezTo>
                      <a:pt x="672" y="557"/>
                      <a:pt x="672" y="557"/>
                      <a:pt x="672" y="557"/>
                    </a:cubicBezTo>
                    <a:cubicBezTo>
                      <a:pt x="652" y="557"/>
                      <a:pt x="652" y="557"/>
                      <a:pt x="652" y="557"/>
                    </a:cubicBezTo>
                    <a:cubicBezTo>
                      <a:pt x="652" y="557"/>
                      <a:pt x="652" y="557"/>
                      <a:pt x="652" y="557"/>
                    </a:cubicBezTo>
                    <a:close/>
                    <a:moveTo>
                      <a:pt x="676" y="587"/>
                    </a:moveTo>
                    <a:cubicBezTo>
                      <a:pt x="665" y="573"/>
                      <a:pt x="665" y="573"/>
                      <a:pt x="665" y="573"/>
                    </a:cubicBezTo>
                    <a:cubicBezTo>
                      <a:pt x="686" y="573"/>
                      <a:pt x="686" y="573"/>
                      <a:pt x="686" y="573"/>
                    </a:cubicBezTo>
                    <a:cubicBezTo>
                      <a:pt x="698" y="587"/>
                      <a:pt x="698" y="587"/>
                      <a:pt x="698" y="587"/>
                    </a:cubicBezTo>
                    <a:cubicBezTo>
                      <a:pt x="676" y="587"/>
                      <a:pt x="676" y="587"/>
                      <a:pt x="676" y="587"/>
                    </a:cubicBezTo>
                    <a:cubicBezTo>
                      <a:pt x="676" y="587"/>
                      <a:pt x="676" y="587"/>
                      <a:pt x="676" y="587"/>
                    </a:cubicBezTo>
                    <a:close/>
                    <a:moveTo>
                      <a:pt x="701" y="616"/>
                    </a:moveTo>
                    <a:cubicBezTo>
                      <a:pt x="690" y="603"/>
                      <a:pt x="690" y="603"/>
                      <a:pt x="690" y="603"/>
                    </a:cubicBezTo>
                    <a:cubicBezTo>
                      <a:pt x="712" y="603"/>
                      <a:pt x="712" y="603"/>
                      <a:pt x="712" y="603"/>
                    </a:cubicBezTo>
                    <a:cubicBezTo>
                      <a:pt x="723" y="616"/>
                      <a:pt x="723" y="616"/>
                      <a:pt x="723" y="616"/>
                    </a:cubicBezTo>
                    <a:cubicBezTo>
                      <a:pt x="701" y="616"/>
                      <a:pt x="701" y="616"/>
                      <a:pt x="701" y="616"/>
                    </a:cubicBezTo>
                    <a:cubicBezTo>
                      <a:pt x="701" y="616"/>
                      <a:pt x="701" y="616"/>
                      <a:pt x="701" y="616"/>
                    </a:cubicBezTo>
                    <a:close/>
                    <a:moveTo>
                      <a:pt x="724" y="646"/>
                    </a:moveTo>
                    <a:cubicBezTo>
                      <a:pt x="714" y="633"/>
                      <a:pt x="714" y="633"/>
                      <a:pt x="714" y="633"/>
                    </a:cubicBezTo>
                    <a:cubicBezTo>
                      <a:pt x="738" y="633"/>
                      <a:pt x="738" y="633"/>
                      <a:pt x="738" y="633"/>
                    </a:cubicBezTo>
                    <a:cubicBezTo>
                      <a:pt x="749" y="646"/>
                      <a:pt x="749" y="646"/>
                      <a:pt x="749" y="646"/>
                    </a:cubicBezTo>
                    <a:cubicBezTo>
                      <a:pt x="724" y="646"/>
                      <a:pt x="724" y="646"/>
                      <a:pt x="724" y="646"/>
                    </a:cubicBezTo>
                    <a:cubicBezTo>
                      <a:pt x="724" y="646"/>
                      <a:pt x="724" y="646"/>
                      <a:pt x="724" y="646"/>
                    </a:cubicBezTo>
                    <a:close/>
                    <a:moveTo>
                      <a:pt x="738" y="662"/>
                    </a:moveTo>
                    <a:cubicBezTo>
                      <a:pt x="764" y="662"/>
                      <a:pt x="764" y="662"/>
                      <a:pt x="764" y="662"/>
                    </a:cubicBezTo>
                    <a:cubicBezTo>
                      <a:pt x="775" y="675"/>
                      <a:pt x="775" y="675"/>
                      <a:pt x="775" y="675"/>
                    </a:cubicBezTo>
                    <a:cubicBezTo>
                      <a:pt x="749" y="675"/>
                      <a:pt x="749" y="675"/>
                      <a:pt x="749" y="675"/>
                    </a:cubicBezTo>
                    <a:cubicBezTo>
                      <a:pt x="738" y="662"/>
                      <a:pt x="738" y="662"/>
                      <a:pt x="738" y="662"/>
                    </a:cubicBezTo>
                    <a:cubicBezTo>
                      <a:pt x="738" y="662"/>
                      <a:pt x="738" y="662"/>
                      <a:pt x="738" y="662"/>
                    </a:cubicBezTo>
                    <a:close/>
                    <a:moveTo>
                      <a:pt x="776" y="709"/>
                    </a:moveTo>
                    <a:cubicBezTo>
                      <a:pt x="762" y="692"/>
                      <a:pt x="762" y="692"/>
                      <a:pt x="762" y="692"/>
                    </a:cubicBezTo>
                    <a:cubicBezTo>
                      <a:pt x="789" y="692"/>
                      <a:pt x="789" y="692"/>
                      <a:pt x="789" y="692"/>
                    </a:cubicBezTo>
                    <a:cubicBezTo>
                      <a:pt x="804" y="709"/>
                      <a:pt x="804" y="709"/>
                      <a:pt x="804" y="709"/>
                    </a:cubicBezTo>
                    <a:cubicBezTo>
                      <a:pt x="776" y="709"/>
                      <a:pt x="776" y="709"/>
                      <a:pt x="776" y="709"/>
                    </a:cubicBezTo>
                    <a:cubicBezTo>
                      <a:pt x="776" y="709"/>
                      <a:pt x="776" y="709"/>
                      <a:pt x="776" y="709"/>
                    </a:cubicBezTo>
                    <a:close/>
                    <a:moveTo>
                      <a:pt x="832" y="709"/>
                    </a:moveTo>
                    <a:cubicBezTo>
                      <a:pt x="817" y="692"/>
                      <a:pt x="817" y="692"/>
                      <a:pt x="817" y="692"/>
                    </a:cubicBezTo>
                    <a:cubicBezTo>
                      <a:pt x="844" y="692"/>
                      <a:pt x="844" y="692"/>
                      <a:pt x="844" y="692"/>
                    </a:cubicBezTo>
                    <a:cubicBezTo>
                      <a:pt x="859" y="709"/>
                      <a:pt x="859" y="709"/>
                      <a:pt x="859" y="709"/>
                    </a:cubicBezTo>
                    <a:cubicBezTo>
                      <a:pt x="832" y="709"/>
                      <a:pt x="832" y="709"/>
                      <a:pt x="832" y="709"/>
                    </a:cubicBezTo>
                    <a:cubicBezTo>
                      <a:pt x="832" y="709"/>
                      <a:pt x="832" y="709"/>
                      <a:pt x="832" y="70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s-ES" dirty="0"/>
              </a:p>
            </p:txBody>
          </p:sp>
        </p:grp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40D6472-3A4C-4D04-AA04-7D204C5246CD}"/>
              </a:ext>
            </a:extLst>
          </p:cNvPr>
          <p:cNvCxnSpPr>
            <a:cxnSpLocks/>
          </p:cNvCxnSpPr>
          <p:nvPr/>
        </p:nvCxnSpPr>
        <p:spPr>
          <a:xfrm>
            <a:off x="6336565" y="2219154"/>
            <a:ext cx="0" cy="414358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">
            <a:extLst>
              <a:ext uri="{FF2B5EF4-FFF2-40B4-BE49-F238E27FC236}">
                <a16:creationId xmlns:a16="http://schemas.microsoft.com/office/drawing/2014/main" id="{8353C715-5103-4905-A8DE-732BCEFD1178}"/>
              </a:ext>
            </a:extLst>
          </p:cNvPr>
          <p:cNvSpPr txBox="1"/>
          <p:nvPr/>
        </p:nvSpPr>
        <p:spPr>
          <a:xfrm>
            <a:off x="820321" y="3086697"/>
            <a:ext cx="1968857" cy="1985159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5562" lvl="1" indent="0">
              <a:buNone/>
            </a:pPr>
            <a:r>
              <a:rPr lang="es-ES" b="1" dirty="0"/>
              <a:t>Eclipse</a:t>
            </a:r>
          </a:p>
          <a:p>
            <a:pPr marL="55562" lvl="1" indent="0">
              <a:buNone/>
            </a:pPr>
            <a:endParaRPr lang="es-ES" b="1" dirty="0"/>
          </a:p>
          <a:p>
            <a:pPr marL="55562" lvl="1" indent="0">
              <a:buNone/>
            </a:pPr>
            <a:r>
              <a:rPr lang="es-ES" b="1" dirty="0" err="1"/>
              <a:t>IntelliJ</a:t>
            </a:r>
            <a:endParaRPr lang="es-ES" b="1" dirty="0"/>
          </a:p>
          <a:p>
            <a:pPr marL="55562" lvl="1" indent="0">
              <a:buNone/>
            </a:pPr>
            <a:endParaRPr lang="es-ES" b="1" dirty="0"/>
          </a:p>
          <a:p>
            <a:pPr marL="55562" lvl="1" indent="0">
              <a:buNone/>
            </a:pPr>
            <a:r>
              <a:rPr lang="es-ES" b="1" dirty="0"/>
              <a:t>NetBeans</a:t>
            </a:r>
          </a:p>
          <a:p>
            <a:pPr marL="55562" lvl="1" indent="0">
              <a:buNone/>
            </a:pPr>
            <a:endParaRPr lang="es-ES" b="1" dirty="0"/>
          </a:p>
          <a:p>
            <a:pPr marL="55562" lvl="1" indent="0">
              <a:buNone/>
            </a:pPr>
            <a:r>
              <a:rPr lang="es-ES" b="1" dirty="0"/>
              <a:t>Visual </a:t>
            </a:r>
            <a:r>
              <a:rPr lang="es-ES" b="1" dirty="0" err="1"/>
              <a:t>Designer</a:t>
            </a:r>
            <a:endParaRPr lang="es-ES" b="1" dirty="0"/>
          </a:p>
        </p:txBody>
      </p:sp>
      <p:sp>
        <p:nvSpPr>
          <p:cNvPr id="13" name="TextBox 60">
            <a:extLst>
              <a:ext uri="{FF2B5EF4-FFF2-40B4-BE49-F238E27FC236}">
                <a16:creationId xmlns:a16="http://schemas.microsoft.com/office/drawing/2014/main" id="{E1B7A7CD-8F14-4848-A9D1-13793BB14C71}"/>
              </a:ext>
            </a:extLst>
          </p:cNvPr>
          <p:cNvSpPr txBox="1"/>
          <p:nvPr/>
        </p:nvSpPr>
        <p:spPr>
          <a:xfrm>
            <a:off x="4284748" y="3082714"/>
            <a:ext cx="1098604" cy="1985159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5562" lvl="1" indent="0">
              <a:buNone/>
            </a:pPr>
            <a:r>
              <a:rPr lang="es-ES" b="1" dirty="0"/>
              <a:t>Java</a:t>
            </a:r>
          </a:p>
          <a:p>
            <a:pPr marL="55562" lvl="1" indent="0">
              <a:buNone/>
            </a:pPr>
            <a:endParaRPr lang="es-ES" b="1" dirty="0"/>
          </a:p>
          <a:p>
            <a:pPr marL="55562" lvl="1" indent="0">
              <a:buNone/>
            </a:pPr>
            <a:r>
              <a:rPr lang="es-ES" b="1" dirty="0"/>
              <a:t>Scala </a:t>
            </a:r>
          </a:p>
          <a:p>
            <a:pPr marL="55562" lvl="1" indent="0">
              <a:buNone/>
            </a:pPr>
            <a:endParaRPr lang="es-ES" b="1" dirty="0"/>
          </a:p>
          <a:p>
            <a:pPr marL="55562" lvl="1" indent="0">
              <a:buNone/>
            </a:pPr>
            <a:r>
              <a:rPr lang="es-ES" b="1" dirty="0" err="1"/>
              <a:t>Groovy</a:t>
            </a:r>
            <a:endParaRPr lang="es-ES" b="1" dirty="0"/>
          </a:p>
          <a:p>
            <a:pPr marL="55562" lvl="1" indent="0">
              <a:buNone/>
            </a:pPr>
            <a:endParaRPr lang="es-ES" b="1" dirty="0"/>
          </a:p>
          <a:p>
            <a:pPr marL="55562" lvl="1" indent="0">
              <a:buNone/>
            </a:pPr>
            <a:r>
              <a:rPr lang="es-ES" b="1" dirty="0" err="1"/>
              <a:t>Kotlin</a:t>
            </a:r>
            <a:endParaRPr lang="en-US" b="1" dirty="0"/>
          </a:p>
        </p:txBody>
      </p:sp>
      <p:sp>
        <p:nvSpPr>
          <p:cNvPr id="14" name="TextBox 61">
            <a:extLst>
              <a:ext uri="{FF2B5EF4-FFF2-40B4-BE49-F238E27FC236}">
                <a16:creationId xmlns:a16="http://schemas.microsoft.com/office/drawing/2014/main" id="{F8DE9B8C-2A2A-4847-A789-18B99045D12F}"/>
              </a:ext>
            </a:extLst>
          </p:cNvPr>
          <p:cNvSpPr txBox="1"/>
          <p:nvPr/>
        </p:nvSpPr>
        <p:spPr>
          <a:xfrm>
            <a:off x="7244769" y="3082714"/>
            <a:ext cx="1098604" cy="1431161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5562" lvl="1" indent="0">
              <a:buNone/>
            </a:pPr>
            <a:r>
              <a:rPr lang="es-ES" b="1" dirty="0" err="1"/>
              <a:t>Jetty</a:t>
            </a:r>
            <a:endParaRPr lang="es-ES" b="1" dirty="0"/>
          </a:p>
          <a:p>
            <a:pPr marL="55562" lvl="1" indent="0">
              <a:buNone/>
            </a:pPr>
            <a:endParaRPr lang="es-ES" b="1" dirty="0"/>
          </a:p>
          <a:p>
            <a:pPr marL="55562" lvl="1" indent="0">
              <a:buNone/>
            </a:pPr>
            <a:r>
              <a:rPr lang="es-ES" b="1" dirty="0"/>
              <a:t>Tomcat</a:t>
            </a:r>
          </a:p>
          <a:p>
            <a:pPr marL="55562" lvl="1" indent="0">
              <a:buNone/>
            </a:pPr>
            <a:endParaRPr lang="es-ES" b="1" dirty="0"/>
          </a:p>
          <a:p>
            <a:pPr marL="55562" lvl="1" indent="0">
              <a:buNone/>
            </a:pPr>
            <a:r>
              <a:rPr lang="es-ES" b="1" dirty="0" err="1"/>
              <a:t>WildFly</a:t>
            </a:r>
            <a:endParaRPr lang="es-ES" b="1" dirty="0"/>
          </a:p>
        </p:txBody>
      </p:sp>
      <p:sp>
        <p:nvSpPr>
          <p:cNvPr id="15" name="TextBox 62">
            <a:extLst>
              <a:ext uri="{FF2B5EF4-FFF2-40B4-BE49-F238E27FC236}">
                <a16:creationId xmlns:a16="http://schemas.microsoft.com/office/drawing/2014/main" id="{DACD8381-C265-4879-8E49-011231B6CFF3}"/>
              </a:ext>
            </a:extLst>
          </p:cNvPr>
          <p:cNvSpPr txBox="1"/>
          <p:nvPr/>
        </p:nvSpPr>
        <p:spPr>
          <a:xfrm>
            <a:off x="10200680" y="3079411"/>
            <a:ext cx="1238585" cy="1985159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5562" lvl="1" indent="0">
              <a:buNone/>
            </a:pPr>
            <a:r>
              <a:rPr lang="es-ES" b="1" dirty="0"/>
              <a:t>JEE</a:t>
            </a:r>
          </a:p>
          <a:p>
            <a:pPr marL="55562" lvl="1" indent="0">
              <a:buNone/>
            </a:pPr>
            <a:endParaRPr lang="es-ES" b="1" dirty="0"/>
          </a:p>
          <a:p>
            <a:pPr marL="55562" lvl="1" indent="0">
              <a:buNone/>
            </a:pPr>
            <a:r>
              <a:rPr lang="es-ES" b="1" dirty="0"/>
              <a:t>Spring</a:t>
            </a:r>
          </a:p>
          <a:p>
            <a:pPr marL="55562" lvl="1" indent="0">
              <a:buNone/>
            </a:pPr>
            <a:endParaRPr lang="es-ES" b="1" dirty="0"/>
          </a:p>
          <a:p>
            <a:pPr marL="55562" lvl="1" indent="0">
              <a:buNone/>
            </a:pPr>
            <a:r>
              <a:rPr lang="es-ES" b="1" dirty="0"/>
              <a:t>Maven</a:t>
            </a:r>
          </a:p>
          <a:p>
            <a:pPr marL="55562" lvl="1" indent="0">
              <a:buNone/>
            </a:pPr>
            <a:endParaRPr lang="es-ES" b="1" dirty="0"/>
          </a:p>
          <a:p>
            <a:pPr marL="55562" lvl="1" indent="0">
              <a:buNone/>
            </a:pPr>
            <a:r>
              <a:rPr lang="es-ES" b="1" dirty="0" err="1"/>
              <a:t>OSGi</a:t>
            </a:r>
            <a:endParaRPr lang="en-US" b="1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622B119-A8D1-4C8B-B80C-3482EC502628}"/>
              </a:ext>
            </a:extLst>
          </p:cNvPr>
          <p:cNvGrpSpPr/>
          <p:nvPr/>
        </p:nvGrpSpPr>
        <p:grpSpPr>
          <a:xfrm>
            <a:off x="10138498" y="5326932"/>
            <a:ext cx="900000" cy="900000"/>
            <a:chOff x="6740226" y="562319"/>
            <a:chExt cx="614664" cy="614664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3E48D8A-668A-40FC-916A-08632C2C48D0}"/>
                </a:ext>
              </a:extLst>
            </p:cNvPr>
            <p:cNvSpPr/>
            <p:nvPr/>
          </p:nvSpPr>
          <p:spPr>
            <a:xfrm>
              <a:off x="6781703" y="602801"/>
              <a:ext cx="523635" cy="523635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  <a:effectLst>
              <a:outerShdw blurRad="254000" sx="135000" sy="135000" algn="ctr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 dirty="0">
                <a:solidFill>
                  <a:schemeClr val="tx1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CF631E8E-331D-420D-85AC-7DC172A8B66D}"/>
                </a:ext>
              </a:extLst>
            </p:cNvPr>
            <p:cNvSpPr/>
            <p:nvPr/>
          </p:nvSpPr>
          <p:spPr>
            <a:xfrm>
              <a:off x="6740226" y="562319"/>
              <a:ext cx="614664" cy="614664"/>
            </a:xfrm>
            <a:prstGeom prst="ellipse">
              <a:avLst/>
            </a:prstGeom>
            <a:noFill/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 dirty="0">
                <a:solidFill>
                  <a:schemeClr val="tx1"/>
                </a:solidFill>
              </a:endParaRPr>
            </a:p>
          </p:txBody>
        </p: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2119EC13-C405-4872-BB29-17356C42B5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81691" y="577805"/>
              <a:ext cx="558532" cy="558533"/>
            </a:xfrm>
            <a:prstGeom prst="rect">
              <a:avLst/>
            </a:prstGeom>
            <a:noFill/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82DCAE9-C29E-47A1-9DA2-4EC55A0AE8EA}"/>
              </a:ext>
            </a:extLst>
          </p:cNvPr>
          <p:cNvGrpSpPr/>
          <p:nvPr/>
        </p:nvGrpSpPr>
        <p:grpSpPr>
          <a:xfrm>
            <a:off x="4284748" y="5326933"/>
            <a:ext cx="900000" cy="900000"/>
            <a:chOff x="4245952" y="5309912"/>
            <a:chExt cx="900000" cy="90000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6695E10-B7E1-49F5-93F0-5D083226AAFF}"/>
                </a:ext>
              </a:extLst>
            </p:cNvPr>
            <p:cNvSpPr/>
            <p:nvPr/>
          </p:nvSpPr>
          <p:spPr>
            <a:xfrm>
              <a:off x="4312595" y="5376554"/>
              <a:ext cx="766714" cy="766715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  <a:effectLst>
              <a:outerShdw blurRad="254000" sx="135000" sy="135000" algn="ctr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 dirty="0">
                <a:solidFill>
                  <a:schemeClr val="tx1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7389E6A-1AAF-4623-AF82-5640AA1E3DAC}"/>
                </a:ext>
              </a:extLst>
            </p:cNvPr>
            <p:cNvSpPr/>
            <p:nvPr/>
          </p:nvSpPr>
          <p:spPr>
            <a:xfrm>
              <a:off x="4245952" y="5309912"/>
              <a:ext cx="900000" cy="900000"/>
            </a:xfrm>
            <a:prstGeom prst="ellipse">
              <a:avLst/>
            </a:prstGeom>
            <a:noFill/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 dirty="0">
                <a:solidFill>
                  <a:schemeClr val="tx1"/>
                </a:solidFill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9B31386D-28B3-4229-8250-457EFE5023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12595" y="5397097"/>
              <a:ext cx="756000" cy="756000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6042B6C-9705-4F85-B430-F79CC423F91F}"/>
              </a:ext>
            </a:extLst>
          </p:cNvPr>
          <p:cNvGrpSpPr/>
          <p:nvPr/>
        </p:nvGrpSpPr>
        <p:grpSpPr>
          <a:xfrm>
            <a:off x="7219733" y="5305447"/>
            <a:ext cx="900000" cy="899999"/>
            <a:chOff x="9064588" y="4831760"/>
            <a:chExt cx="929682" cy="92968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4A77DB5-7AA1-4172-A743-5F9D60381BDE}"/>
                </a:ext>
              </a:extLst>
            </p:cNvPr>
            <p:cNvSpPr/>
            <p:nvPr/>
          </p:nvSpPr>
          <p:spPr>
            <a:xfrm>
              <a:off x="9133429" y="4900600"/>
              <a:ext cx="792000" cy="792000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  <a:effectLst>
              <a:outerShdw blurRad="254000" sx="135000" sy="135000" algn="ctr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 dirty="0">
                <a:solidFill>
                  <a:schemeClr val="tx1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3D37AD0-CD68-413F-BC95-A9E17C5536D9}"/>
                </a:ext>
              </a:extLst>
            </p:cNvPr>
            <p:cNvSpPr/>
            <p:nvPr/>
          </p:nvSpPr>
          <p:spPr>
            <a:xfrm>
              <a:off x="9064588" y="4831760"/>
              <a:ext cx="929682" cy="929680"/>
            </a:xfrm>
            <a:prstGeom prst="ellipse">
              <a:avLst/>
            </a:prstGeom>
            <a:noFill/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 dirty="0">
                <a:solidFill>
                  <a:schemeClr val="tx1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7D0B24E-8ECA-48F6-A3BA-0715889426CF}"/>
                </a:ext>
              </a:extLst>
            </p:cNvPr>
            <p:cNvGrpSpPr/>
            <p:nvPr/>
          </p:nvGrpSpPr>
          <p:grpSpPr>
            <a:xfrm>
              <a:off x="9334452" y="5017913"/>
              <a:ext cx="389955" cy="530714"/>
              <a:chOff x="2970213" y="2243481"/>
              <a:chExt cx="436005" cy="593384"/>
            </a:xfrm>
            <a:solidFill>
              <a:schemeClr val="bg1"/>
            </a:solidFill>
          </p:grpSpPr>
          <p:sp>
            <p:nvSpPr>
              <p:cNvPr id="22" name="Freeform 36">
                <a:extLst>
                  <a:ext uri="{FF2B5EF4-FFF2-40B4-BE49-F238E27FC236}">
                    <a16:creationId xmlns:a16="http://schemas.microsoft.com/office/drawing/2014/main" id="{4C3CDF6F-50FB-431D-9A9E-06912ACC62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9343" y="2411415"/>
                <a:ext cx="396875" cy="425450"/>
              </a:xfrm>
              <a:custGeom>
                <a:avLst/>
                <a:gdLst>
                  <a:gd name="T0" fmla="*/ 96 w 106"/>
                  <a:gd name="T1" fmla="*/ 56 h 113"/>
                  <a:gd name="T2" fmla="*/ 87 w 106"/>
                  <a:gd name="T3" fmla="*/ 66 h 113"/>
                  <a:gd name="T4" fmla="*/ 87 w 106"/>
                  <a:gd name="T5" fmla="*/ 57 h 113"/>
                  <a:gd name="T6" fmla="*/ 77 w 106"/>
                  <a:gd name="T7" fmla="*/ 47 h 113"/>
                  <a:gd name="T8" fmla="*/ 68 w 106"/>
                  <a:gd name="T9" fmla="*/ 53 h 113"/>
                  <a:gd name="T10" fmla="*/ 68 w 106"/>
                  <a:gd name="T11" fmla="*/ 48 h 113"/>
                  <a:gd name="T12" fmla="*/ 58 w 106"/>
                  <a:gd name="T13" fmla="*/ 38 h 113"/>
                  <a:gd name="T14" fmla="*/ 50 w 106"/>
                  <a:gd name="T15" fmla="*/ 44 h 113"/>
                  <a:gd name="T16" fmla="*/ 50 w 106"/>
                  <a:gd name="T17" fmla="*/ 10 h 113"/>
                  <a:gd name="T18" fmla="*/ 40 w 106"/>
                  <a:gd name="T19" fmla="*/ 0 h 113"/>
                  <a:gd name="T20" fmla="*/ 31 w 106"/>
                  <a:gd name="T21" fmla="*/ 10 h 113"/>
                  <a:gd name="T22" fmla="*/ 31 w 106"/>
                  <a:gd name="T23" fmla="*/ 90 h 113"/>
                  <a:gd name="T24" fmla="*/ 18 w 106"/>
                  <a:gd name="T25" fmla="*/ 74 h 113"/>
                  <a:gd name="T26" fmla="*/ 5 w 106"/>
                  <a:gd name="T27" fmla="*/ 72 h 113"/>
                  <a:gd name="T28" fmla="*/ 3 w 106"/>
                  <a:gd name="T29" fmla="*/ 85 h 113"/>
                  <a:gd name="T30" fmla="*/ 19 w 106"/>
                  <a:gd name="T31" fmla="*/ 105 h 113"/>
                  <a:gd name="T32" fmla="*/ 35 w 106"/>
                  <a:gd name="T33" fmla="*/ 113 h 113"/>
                  <a:gd name="T34" fmla="*/ 96 w 106"/>
                  <a:gd name="T35" fmla="*/ 113 h 113"/>
                  <a:gd name="T36" fmla="*/ 106 w 106"/>
                  <a:gd name="T37" fmla="*/ 103 h 113"/>
                  <a:gd name="T38" fmla="*/ 106 w 106"/>
                  <a:gd name="T39" fmla="*/ 66 h 113"/>
                  <a:gd name="T40" fmla="*/ 96 w 106"/>
                  <a:gd name="T41" fmla="*/ 56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6" h="113">
                    <a:moveTo>
                      <a:pt x="96" y="56"/>
                    </a:moveTo>
                    <a:cubicBezTo>
                      <a:pt x="91" y="56"/>
                      <a:pt x="87" y="61"/>
                      <a:pt x="87" y="66"/>
                    </a:cubicBezTo>
                    <a:cubicBezTo>
                      <a:pt x="87" y="57"/>
                      <a:pt x="87" y="57"/>
                      <a:pt x="87" y="57"/>
                    </a:cubicBezTo>
                    <a:cubicBezTo>
                      <a:pt x="87" y="52"/>
                      <a:pt x="83" y="47"/>
                      <a:pt x="77" y="47"/>
                    </a:cubicBezTo>
                    <a:cubicBezTo>
                      <a:pt x="73" y="47"/>
                      <a:pt x="70" y="50"/>
                      <a:pt x="68" y="53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68" y="42"/>
                      <a:pt x="64" y="38"/>
                      <a:pt x="58" y="38"/>
                    </a:cubicBezTo>
                    <a:cubicBezTo>
                      <a:pt x="55" y="38"/>
                      <a:pt x="51" y="40"/>
                      <a:pt x="50" y="44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5"/>
                      <a:pt x="45" y="0"/>
                      <a:pt x="40" y="0"/>
                    </a:cubicBezTo>
                    <a:cubicBezTo>
                      <a:pt x="35" y="0"/>
                      <a:pt x="31" y="5"/>
                      <a:pt x="31" y="10"/>
                    </a:cubicBezTo>
                    <a:cubicBezTo>
                      <a:pt x="31" y="90"/>
                      <a:pt x="31" y="90"/>
                      <a:pt x="31" y="90"/>
                    </a:cubicBezTo>
                    <a:cubicBezTo>
                      <a:pt x="18" y="74"/>
                      <a:pt x="18" y="74"/>
                      <a:pt x="18" y="74"/>
                    </a:cubicBezTo>
                    <a:cubicBezTo>
                      <a:pt x="14" y="70"/>
                      <a:pt x="9" y="69"/>
                      <a:pt x="5" y="72"/>
                    </a:cubicBezTo>
                    <a:cubicBezTo>
                      <a:pt x="1" y="75"/>
                      <a:pt x="0" y="81"/>
                      <a:pt x="3" y="85"/>
                    </a:cubicBezTo>
                    <a:cubicBezTo>
                      <a:pt x="19" y="105"/>
                      <a:pt x="19" y="105"/>
                      <a:pt x="19" y="105"/>
                    </a:cubicBezTo>
                    <a:cubicBezTo>
                      <a:pt x="23" y="109"/>
                      <a:pt x="29" y="113"/>
                      <a:pt x="35" y="113"/>
                    </a:cubicBezTo>
                    <a:cubicBezTo>
                      <a:pt x="96" y="113"/>
                      <a:pt x="96" y="113"/>
                      <a:pt x="96" y="113"/>
                    </a:cubicBezTo>
                    <a:cubicBezTo>
                      <a:pt x="102" y="113"/>
                      <a:pt x="106" y="108"/>
                      <a:pt x="106" y="103"/>
                    </a:cubicBezTo>
                    <a:cubicBezTo>
                      <a:pt x="106" y="66"/>
                      <a:pt x="106" y="66"/>
                      <a:pt x="106" y="66"/>
                    </a:cubicBezTo>
                    <a:cubicBezTo>
                      <a:pt x="106" y="61"/>
                      <a:pt x="102" y="56"/>
                      <a:pt x="96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s-ES" dirty="0"/>
              </a:p>
            </p:txBody>
          </p:sp>
          <p:sp>
            <p:nvSpPr>
              <p:cNvPr id="23" name="Freeform 37">
                <a:extLst>
                  <a:ext uri="{FF2B5EF4-FFF2-40B4-BE49-F238E27FC236}">
                    <a16:creationId xmlns:a16="http://schemas.microsoft.com/office/drawing/2014/main" id="{5269DED4-DCD4-466B-98F4-CDAADE31E8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3250" y="2243481"/>
                <a:ext cx="36513" cy="100628"/>
              </a:xfrm>
              <a:custGeom>
                <a:avLst/>
                <a:gdLst>
                  <a:gd name="T0" fmla="*/ 5 w 10"/>
                  <a:gd name="T1" fmla="*/ 19 h 19"/>
                  <a:gd name="T2" fmla="*/ 10 w 10"/>
                  <a:gd name="T3" fmla="*/ 14 h 19"/>
                  <a:gd name="T4" fmla="*/ 10 w 10"/>
                  <a:gd name="T5" fmla="*/ 5 h 19"/>
                  <a:gd name="T6" fmla="*/ 5 w 10"/>
                  <a:gd name="T7" fmla="*/ 0 h 19"/>
                  <a:gd name="T8" fmla="*/ 0 w 10"/>
                  <a:gd name="T9" fmla="*/ 5 h 19"/>
                  <a:gd name="T10" fmla="*/ 0 w 10"/>
                  <a:gd name="T11" fmla="*/ 14 h 19"/>
                  <a:gd name="T12" fmla="*/ 5 w 10"/>
                  <a:gd name="T13" fmla="*/ 19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19">
                    <a:moveTo>
                      <a:pt x="5" y="19"/>
                    </a:moveTo>
                    <a:cubicBezTo>
                      <a:pt x="8" y="19"/>
                      <a:pt x="10" y="17"/>
                      <a:pt x="10" y="14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10" y="2"/>
                      <a:pt x="8" y="0"/>
                      <a:pt x="5" y="0"/>
                    </a:cubicBezTo>
                    <a:cubicBezTo>
                      <a:pt x="3" y="0"/>
                      <a:pt x="0" y="2"/>
                      <a:pt x="0" y="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7"/>
                      <a:pt x="3" y="19"/>
                      <a:pt x="5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s-ES" dirty="0"/>
              </a:p>
            </p:txBody>
          </p:sp>
          <p:sp>
            <p:nvSpPr>
              <p:cNvPr id="24" name="Freeform 38">
                <a:extLst>
                  <a:ext uri="{FF2B5EF4-FFF2-40B4-BE49-F238E27FC236}">
                    <a16:creationId xmlns:a16="http://schemas.microsoft.com/office/drawing/2014/main" id="{3ACDCC3D-ED2B-446C-BE28-867A49A737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0213" y="2411415"/>
                <a:ext cx="104775" cy="38100"/>
              </a:xfrm>
              <a:custGeom>
                <a:avLst/>
                <a:gdLst>
                  <a:gd name="T0" fmla="*/ 28 w 28"/>
                  <a:gd name="T1" fmla="*/ 5 h 10"/>
                  <a:gd name="T2" fmla="*/ 23 w 28"/>
                  <a:gd name="T3" fmla="*/ 0 h 10"/>
                  <a:gd name="T4" fmla="*/ 4 w 28"/>
                  <a:gd name="T5" fmla="*/ 0 h 10"/>
                  <a:gd name="T6" fmla="*/ 0 w 28"/>
                  <a:gd name="T7" fmla="*/ 5 h 10"/>
                  <a:gd name="T8" fmla="*/ 4 w 28"/>
                  <a:gd name="T9" fmla="*/ 10 h 10"/>
                  <a:gd name="T10" fmla="*/ 23 w 28"/>
                  <a:gd name="T11" fmla="*/ 10 h 10"/>
                  <a:gd name="T12" fmla="*/ 28 w 28"/>
                  <a:gd name="T13" fmla="*/ 5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" h="10">
                    <a:moveTo>
                      <a:pt x="28" y="5"/>
                    </a:moveTo>
                    <a:cubicBezTo>
                      <a:pt x="28" y="2"/>
                      <a:pt x="26" y="0"/>
                      <a:pt x="23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8"/>
                      <a:pt x="2" y="10"/>
                      <a:pt x="4" y="10"/>
                    </a:cubicBezTo>
                    <a:cubicBezTo>
                      <a:pt x="23" y="10"/>
                      <a:pt x="23" y="10"/>
                      <a:pt x="23" y="10"/>
                    </a:cubicBezTo>
                    <a:cubicBezTo>
                      <a:pt x="26" y="10"/>
                      <a:pt x="28" y="8"/>
                      <a:pt x="28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s-ES" dirty="0"/>
              </a:p>
            </p:txBody>
          </p:sp>
          <p:sp>
            <p:nvSpPr>
              <p:cNvPr id="25" name="Freeform 39">
                <a:extLst>
                  <a:ext uri="{FF2B5EF4-FFF2-40B4-BE49-F238E27FC236}">
                    <a16:creationId xmlns:a16="http://schemas.microsoft.com/office/drawing/2014/main" id="{4F5C213C-2FEB-455E-92E5-8790043EBB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8025" y="2411415"/>
                <a:ext cx="107950" cy="38100"/>
              </a:xfrm>
              <a:custGeom>
                <a:avLst/>
                <a:gdLst>
                  <a:gd name="T0" fmla="*/ 0 w 29"/>
                  <a:gd name="T1" fmla="*/ 5 h 10"/>
                  <a:gd name="T2" fmla="*/ 5 w 29"/>
                  <a:gd name="T3" fmla="*/ 10 h 10"/>
                  <a:gd name="T4" fmla="*/ 24 w 29"/>
                  <a:gd name="T5" fmla="*/ 10 h 10"/>
                  <a:gd name="T6" fmla="*/ 29 w 29"/>
                  <a:gd name="T7" fmla="*/ 5 h 10"/>
                  <a:gd name="T8" fmla="*/ 24 w 29"/>
                  <a:gd name="T9" fmla="*/ 0 h 10"/>
                  <a:gd name="T10" fmla="*/ 5 w 29"/>
                  <a:gd name="T11" fmla="*/ 0 h 10"/>
                  <a:gd name="T12" fmla="*/ 0 w 29"/>
                  <a:gd name="T13" fmla="*/ 5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10">
                    <a:moveTo>
                      <a:pt x="0" y="5"/>
                    </a:moveTo>
                    <a:cubicBezTo>
                      <a:pt x="0" y="8"/>
                      <a:pt x="3" y="10"/>
                      <a:pt x="5" y="10"/>
                    </a:cubicBezTo>
                    <a:cubicBezTo>
                      <a:pt x="24" y="10"/>
                      <a:pt x="24" y="10"/>
                      <a:pt x="24" y="10"/>
                    </a:cubicBezTo>
                    <a:cubicBezTo>
                      <a:pt x="26" y="10"/>
                      <a:pt x="29" y="8"/>
                      <a:pt x="29" y="5"/>
                    </a:cubicBezTo>
                    <a:cubicBezTo>
                      <a:pt x="29" y="2"/>
                      <a:pt x="26" y="0"/>
                      <a:pt x="24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3" y="0"/>
                      <a:pt x="0" y="2"/>
                      <a:pt x="0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s-ES" dirty="0"/>
              </a:p>
            </p:txBody>
          </p:sp>
          <p:sp>
            <p:nvSpPr>
              <p:cNvPr id="26" name="Freeform 40">
                <a:extLst>
                  <a:ext uri="{FF2B5EF4-FFF2-40B4-BE49-F238E27FC236}">
                    <a16:creationId xmlns:a16="http://schemas.microsoft.com/office/drawing/2014/main" id="{160FC404-DE5C-4CB4-93AF-349E2E4280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7863" y="2292352"/>
                <a:ext cx="96838" cy="82550"/>
              </a:xfrm>
              <a:custGeom>
                <a:avLst/>
                <a:gdLst>
                  <a:gd name="T0" fmla="*/ 8 w 26"/>
                  <a:gd name="T1" fmla="*/ 20 h 22"/>
                  <a:gd name="T2" fmla="*/ 23 w 26"/>
                  <a:gd name="T3" fmla="*/ 9 h 22"/>
                  <a:gd name="T4" fmla="*/ 24 w 26"/>
                  <a:gd name="T5" fmla="*/ 2 h 22"/>
                  <a:gd name="T6" fmla="*/ 18 w 26"/>
                  <a:gd name="T7" fmla="*/ 1 h 22"/>
                  <a:gd name="T8" fmla="*/ 3 w 26"/>
                  <a:gd name="T9" fmla="*/ 13 h 22"/>
                  <a:gd name="T10" fmla="*/ 2 w 26"/>
                  <a:gd name="T11" fmla="*/ 19 h 22"/>
                  <a:gd name="T12" fmla="*/ 8 w 26"/>
                  <a:gd name="T13" fmla="*/ 2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6" h="22">
                    <a:moveTo>
                      <a:pt x="8" y="20"/>
                    </a:moveTo>
                    <a:cubicBezTo>
                      <a:pt x="23" y="9"/>
                      <a:pt x="23" y="9"/>
                      <a:pt x="23" y="9"/>
                    </a:cubicBezTo>
                    <a:cubicBezTo>
                      <a:pt x="25" y="7"/>
                      <a:pt x="26" y="4"/>
                      <a:pt x="24" y="2"/>
                    </a:cubicBezTo>
                    <a:cubicBezTo>
                      <a:pt x="23" y="0"/>
                      <a:pt x="20" y="0"/>
                      <a:pt x="18" y="1"/>
                    </a:cubicBezTo>
                    <a:cubicBezTo>
                      <a:pt x="3" y="13"/>
                      <a:pt x="3" y="13"/>
                      <a:pt x="3" y="13"/>
                    </a:cubicBezTo>
                    <a:cubicBezTo>
                      <a:pt x="1" y="14"/>
                      <a:pt x="0" y="17"/>
                      <a:pt x="2" y="19"/>
                    </a:cubicBezTo>
                    <a:cubicBezTo>
                      <a:pt x="3" y="21"/>
                      <a:pt x="6" y="22"/>
                      <a:pt x="8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s-ES" dirty="0"/>
              </a:p>
            </p:txBody>
          </p:sp>
          <p:sp>
            <p:nvSpPr>
              <p:cNvPr id="27" name="Freeform 41">
                <a:extLst>
                  <a:ext uri="{FF2B5EF4-FFF2-40B4-BE49-F238E27FC236}">
                    <a16:creationId xmlns:a16="http://schemas.microsoft.com/office/drawing/2014/main" id="{6DB6D8F1-1C95-453C-A3D3-054E48F17F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6725" y="2292352"/>
                <a:ext cx="98425" cy="82550"/>
              </a:xfrm>
              <a:custGeom>
                <a:avLst/>
                <a:gdLst>
                  <a:gd name="T0" fmla="*/ 18 w 26"/>
                  <a:gd name="T1" fmla="*/ 20 h 22"/>
                  <a:gd name="T2" fmla="*/ 24 w 26"/>
                  <a:gd name="T3" fmla="*/ 19 h 22"/>
                  <a:gd name="T4" fmla="*/ 23 w 26"/>
                  <a:gd name="T5" fmla="*/ 13 h 22"/>
                  <a:gd name="T6" fmla="*/ 8 w 26"/>
                  <a:gd name="T7" fmla="*/ 1 h 22"/>
                  <a:gd name="T8" fmla="*/ 2 w 26"/>
                  <a:gd name="T9" fmla="*/ 2 h 22"/>
                  <a:gd name="T10" fmla="*/ 3 w 26"/>
                  <a:gd name="T11" fmla="*/ 9 h 22"/>
                  <a:gd name="T12" fmla="*/ 18 w 26"/>
                  <a:gd name="T13" fmla="*/ 2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6" h="22">
                    <a:moveTo>
                      <a:pt x="18" y="20"/>
                    </a:moveTo>
                    <a:cubicBezTo>
                      <a:pt x="20" y="22"/>
                      <a:pt x="23" y="21"/>
                      <a:pt x="24" y="19"/>
                    </a:cubicBezTo>
                    <a:cubicBezTo>
                      <a:pt x="26" y="17"/>
                      <a:pt x="25" y="14"/>
                      <a:pt x="23" y="13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6" y="0"/>
                      <a:pt x="3" y="0"/>
                      <a:pt x="2" y="2"/>
                    </a:cubicBezTo>
                    <a:cubicBezTo>
                      <a:pt x="0" y="4"/>
                      <a:pt x="1" y="7"/>
                      <a:pt x="3" y="9"/>
                    </a:cubicBezTo>
                    <a:lnTo>
                      <a:pt x="18" y="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s-E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52865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E0985-B3DA-4994-9BE2-1A9EF84C6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arquitectura de aplicación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C58B0B8-342E-4277-8C67-276AF35C7BCF}"/>
              </a:ext>
            </a:extLst>
          </p:cNvPr>
          <p:cNvSpPr/>
          <p:nvPr/>
        </p:nvSpPr>
        <p:spPr>
          <a:xfrm>
            <a:off x="6302997" y="3084503"/>
            <a:ext cx="4758961" cy="2255308"/>
          </a:xfrm>
          <a:prstGeom prst="roundRect">
            <a:avLst/>
          </a:prstGeom>
          <a:ln w="50800">
            <a:solidFill>
              <a:srgbClr val="00D700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 sz="1600" b="1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1627400-060A-4A76-8594-007E4EC2A6F7}"/>
              </a:ext>
            </a:extLst>
          </p:cNvPr>
          <p:cNvSpPr/>
          <p:nvPr/>
        </p:nvSpPr>
        <p:spPr>
          <a:xfrm>
            <a:off x="3203048" y="3002034"/>
            <a:ext cx="2275900" cy="2255308"/>
          </a:xfrm>
          <a:prstGeom prst="roundRect">
            <a:avLst/>
          </a:prstGeom>
          <a:ln w="50800">
            <a:solidFill>
              <a:srgbClr val="00F3FF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 sz="1600" b="1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E5E8BAE-C82F-4E16-AE94-9B0620FA3136}"/>
              </a:ext>
            </a:extLst>
          </p:cNvPr>
          <p:cNvGrpSpPr/>
          <p:nvPr/>
        </p:nvGrpSpPr>
        <p:grpSpPr>
          <a:xfrm>
            <a:off x="768798" y="3437457"/>
            <a:ext cx="10097200" cy="1404000"/>
            <a:chOff x="1130300" y="2766566"/>
            <a:chExt cx="10097200" cy="140400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898EAB01-CEEF-46E9-8C52-C6176B824CE9}"/>
                </a:ext>
              </a:extLst>
            </p:cNvPr>
            <p:cNvSpPr/>
            <p:nvPr/>
          </p:nvSpPr>
          <p:spPr>
            <a:xfrm>
              <a:off x="9823500" y="2766566"/>
              <a:ext cx="1404000" cy="1404000"/>
            </a:xfrm>
            <a:prstGeom prst="roundRect">
              <a:avLst/>
            </a:prstGeom>
            <a:solidFill>
              <a:srgbClr val="00D700"/>
            </a:solidFill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600" b="1" dirty="0">
                  <a:solidFill>
                    <a:schemeClr val="tx1"/>
                  </a:solidFill>
                </a:rPr>
                <a:t>JavaScript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768C3DEA-A15A-42FB-B0D3-B298C80730A9}"/>
                </a:ext>
              </a:extLst>
            </p:cNvPr>
            <p:cNvSpPr/>
            <p:nvPr/>
          </p:nvSpPr>
          <p:spPr>
            <a:xfrm>
              <a:off x="1130300" y="2766566"/>
              <a:ext cx="1404000" cy="1404000"/>
            </a:xfrm>
            <a:prstGeom prst="roundRect">
              <a:avLst/>
            </a:prstGeom>
            <a:solidFill>
              <a:srgbClr val="FF9500"/>
            </a:solidFill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600" b="1" dirty="0" err="1">
                  <a:solidFill>
                    <a:schemeClr val="tx1"/>
                  </a:solidFill>
                </a:rPr>
                <a:t>Backend</a:t>
              </a:r>
              <a:r>
                <a:rPr lang="es-ES" sz="1600" b="1" dirty="0">
                  <a:solidFill>
                    <a:schemeClr val="tx1"/>
                  </a:solidFill>
                </a:rPr>
                <a:t> Server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F9C22BA5-1CB5-48DC-B427-D8E0136DB3C9}"/>
                </a:ext>
              </a:extLst>
            </p:cNvPr>
            <p:cNvSpPr/>
            <p:nvPr/>
          </p:nvSpPr>
          <p:spPr>
            <a:xfrm>
              <a:off x="4000500" y="2766566"/>
              <a:ext cx="1404000" cy="1404000"/>
            </a:xfrm>
            <a:prstGeom prst="roundRect">
              <a:avLst/>
            </a:prstGeom>
            <a:solidFill>
              <a:srgbClr val="00F3FF"/>
            </a:solidFill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600" b="1" dirty="0">
                  <a:solidFill>
                    <a:schemeClr val="tx1"/>
                  </a:solidFill>
                </a:rPr>
                <a:t>Web Server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072E4ACC-F2D8-4282-87F3-602898317F18}"/>
                </a:ext>
              </a:extLst>
            </p:cNvPr>
            <p:cNvSpPr/>
            <p:nvPr/>
          </p:nvSpPr>
          <p:spPr>
            <a:xfrm>
              <a:off x="6912000" y="2766566"/>
              <a:ext cx="1404000" cy="1404000"/>
            </a:xfrm>
            <a:prstGeom prst="roundRect">
              <a:avLst/>
            </a:prstGeom>
            <a:solidFill>
              <a:srgbClr val="00D700"/>
            </a:solidFill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600" b="1" dirty="0" err="1">
                  <a:solidFill>
                    <a:schemeClr val="tx1"/>
                  </a:solidFill>
                </a:rPr>
                <a:t>Commu-nication</a:t>
              </a:r>
              <a:endParaRPr lang="es-ES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571D39E-719A-44DA-B4CD-5795C23C6D4B}"/>
                </a:ext>
              </a:extLst>
            </p:cNvPr>
            <p:cNvCxnSpPr>
              <a:cxnSpLocks/>
              <a:stCxn id="10" idx="3"/>
              <a:endCxn id="11" idx="1"/>
            </p:cNvCxnSpPr>
            <p:nvPr/>
          </p:nvCxnSpPr>
          <p:spPr>
            <a:xfrm>
              <a:off x="2534300" y="3468566"/>
              <a:ext cx="14662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E525267-EED8-406B-BA30-D1F1F92AF672}"/>
                </a:ext>
              </a:extLst>
            </p:cNvPr>
            <p:cNvCxnSpPr>
              <a:cxnSpLocks/>
              <a:stCxn id="11" idx="3"/>
              <a:endCxn id="12" idx="1"/>
            </p:cNvCxnSpPr>
            <p:nvPr/>
          </p:nvCxnSpPr>
          <p:spPr>
            <a:xfrm>
              <a:off x="5404500" y="3468566"/>
              <a:ext cx="15075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DCD795E-B3C0-423B-987F-CC66F32F1484}"/>
                </a:ext>
              </a:extLst>
            </p:cNvPr>
            <p:cNvCxnSpPr>
              <a:cxnSpLocks/>
              <a:stCxn id="12" idx="3"/>
              <a:endCxn id="9" idx="1"/>
            </p:cNvCxnSpPr>
            <p:nvPr/>
          </p:nvCxnSpPr>
          <p:spPr>
            <a:xfrm>
              <a:off x="8316000" y="3468566"/>
              <a:ext cx="15075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30">
            <a:extLst>
              <a:ext uri="{FF2B5EF4-FFF2-40B4-BE49-F238E27FC236}">
                <a16:creationId xmlns:a16="http://schemas.microsoft.com/office/drawing/2014/main" id="{BDF4C241-6433-4E3D-85A7-F931F63F92D0}"/>
              </a:ext>
            </a:extLst>
          </p:cNvPr>
          <p:cNvSpPr txBox="1"/>
          <p:nvPr/>
        </p:nvSpPr>
        <p:spPr>
          <a:xfrm>
            <a:off x="3340109" y="5480667"/>
            <a:ext cx="2001778" cy="384721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200" b="1" dirty="0">
                <a:solidFill>
                  <a:srgbClr val="00F3FF"/>
                </a:solidFill>
              </a:rPr>
              <a:t>Server-</a:t>
            </a:r>
            <a:r>
              <a:rPr lang="es-ES" sz="2200" b="1" dirty="0" err="1">
                <a:solidFill>
                  <a:srgbClr val="00F3FF"/>
                </a:solidFill>
              </a:rPr>
              <a:t>side</a:t>
            </a:r>
            <a:r>
              <a:rPr lang="es-ES" sz="2200" b="1" dirty="0">
                <a:solidFill>
                  <a:srgbClr val="00B4F0"/>
                </a:solidFill>
              </a:rPr>
              <a:t> </a:t>
            </a:r>
            <a:r>
              <a:rPr lang="es-ES" sz="2200" b="1" dirty="0">
                <a:solidFill>
                  <a:srgbClr val="00F3FF"/>
                </a:solidFill>
              </a:rPr>
              <a:t>UI</a:t>
            </a:r>
          </a:p>
        </p:txBody>
      </p:sp>
      <p:sp>
        <p:nvSpPr>
          <p:cNvPr id="8" name="TextBox 32">
            <a:extLst>
              <a:ext uri="{FF2B5EF4-FFF2-40B4-BE49-F238E27FC236}">
                <a16:creationId xmlns:a16="http://schemas.microsoft.com/office/drawing/2014/main" id="{BF803977-8E2C-4264-8711-0482E81B034D}"/>
              </a:ext>
            </a:extLst>
          </p:cNvPr>
          <p:cNvSpPr txBox="1"/>
          <p:nvPr/>
        </p:nvSpPr>
        <p:spPr>
          <a:xfrm>
            <a:off x="7888098" y="5480666"/>
            <a:ext cx="2275900" cy="384721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200" b="1" dirty="0">
                <a:solidFill>
                  <a:srgbClr val="00D700"/>
                </a:solidFill>
              </a:rPr>
              <a:t>Automático</a:t>
            </a:r>
          </a:p>
        </p:txBody>
      </p:sp>
    </p:spTree>
    <p:extLst>
      <p:ext uri="{BB962C8B-B14F-4D97-AF65-F5344CB8AC3E}">
        <p14:creationId xmlns:p14="http://schemas.microsoft.com/office/powerpoint/2010/main" val="3872394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E0985-B3DA-4994-9BE2-1A9EF84C6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arquitectura de aplicación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C0BD09-928C-455E-8AAA-8C41D8E75C84}"/>
              </a:ext>
            </a:extLst>
          </p:cNvPr>
          <p:cNvSpPr/>
          <p:nvPr/>
        </p:nvSpPr>
        <p:spPr>
          <a:xfrm>
            <a:off x="357036" y="2375830"/>
            <a:ext cx="4401154" cy="363034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 sz="1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ECA77D-B54A-449D-A236-69FD50998F62}"/>
              </a:ext>
            </a:extLst>
          </p:cNvPr>
          <p:cNvSpPr/>
          <p:nvPr/>
        </p:nvSpPr>
        <p:spPr>
          <a:xfrm>
            <a:off x="4837263" y="2375830"/>
            <a:ext cx="4991100" cy="363034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E28B25-37FD-4F5F-9136-815E88B36B2F}"/>
              </a:ext>
            </a:extLst>
          </p:cNvPr>
          <p:cNvSpPr/>
          <p:nvPr/>
        </p:nvSpPr>
        <p:spPr>
          <a:xfrm>
            <a:off x="9828363" y="2375830"/>
            <a:ext cx="2006600" cy="363034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 sz="1600" dirty="0"/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20914624-63E4-4EC4-A480-BCF51A6B465F}"/>
              </a:ext>
            </a:extLst>
          </p:cNvPr>
          <p:cNvSpPr txBox="1"/>
          <p:nvPr/>
        </p:nvSpPr>
        <p:spPr>
          <a:xfrm>
            <a:off x="595463" y="5599770"/>
            <a:ext cx="876300" cy="292100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600" b="1" dirty="0">
                <a:solidFill>
                  <a:srgbClr val="00D700"/>
                </a:solidFill>
              </a:rPr>
              <a:t>Browser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83A8FE27-9993-4697-9FC0-63017FC6B08E}"/>
              </a:ext>
            </a:extLst>
          </p:cNvPr>
          <p:cNvSpPr txBox="1"/>
          <p:nvPr/>
        </p:nvSpPr>
        <p:spPr>
          <a:xfrm>
            <a:off x="5084913" y="5599770"/>
            <a:ext cx="1289050" cy="292388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600" b="1" dirty="0">
                <a:solidFill>
                  <a:srgbClr val="00D700"/>
                </a:solidFill>
              </a:rPr>
              <a:t>Web Server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1D739663-2A2D-4665-BCC3-055783423A15}"/>
              </a:ext>
            </a:extLst>
          </p:cNvPr>
          <p:cNvSpPr txBox="1"/>
          <p:nvPr/>
        </p:nvSpPr>
        <p:spPr>
          <a:xfrm>
            <a:off x="9989870" y="5599770"/>
            <a:ext cx="1758951" cy="292388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600" b="1" dirty="0" err="1">
                <a:solidFill>
                  <a:srgbClr val="00D700"/>
                </a:solidFill>
              </a:rPr>
              <a:t>Backend</a:t>
            </a:r>
            <a:r>
              <a:rPr lang="es-ES" sz="1600" b="1" dirty="0"/>
              <a:t> </a:t>
            </a:r>
            <a:r>
              <a:rPr lang="es-ES" sz="1600" b="1" dirty="0">
                <a:solidFill>
                  <a:srgbClr val="00D700"/>
                </a:solidFill>
              </a:rPr>
              <a:t>Server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6A4CDC-6F29-4D68-93F0-D447F335EA84}"/>
              </a:ext>
            </a:extLst>
          </p:cNvPr>
          <p:cNvSpPr/>
          <p:nvPr/>
        </p:nvSpPr>
        <p:spPr>
          <a:xfrm>
            <a:off x="9955363" y="2660061"/>
            <a:ext cx="1793458" cy="28247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 sz="1600" dirty="0"/>
          </a:p>
        </p:txBody>
      </p:sp>
      <p:sp>
        <p:nvSpPr>
          <p:cNvPr id="11" name="TextBox 12">
            <a:extLst>
              <a:ext uri="{FF2B5EF4-FFF2-40B4-BE49-F238E27FC236}">
                <a16:creationId xmlns:a16="http://schemas.microsoft.com/office/drawing/2014/main" id="{B5812B89-C78F-435D-B177-7FC5E0FFEE8A}"/>
              </a:ext>
            </a:extLst>
          </p:cNvPr>
          <p:cNvSpPr txBox="1"/>
          <p:nvPr/>
        </p:nvSpPr>
        <p:spPr>
          <a:xfrm>
            <a:off x="10076013" y="2785200"/>
            <a:ext cx="1758951" cy="292388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600" b="1" dirty="0" err="1"/>
              <a:t>Backend</a:t>
            </a:r>
            <a:r>
              <a:rPr lang="es-ES" sz="1600" b="1" dirty="0"/>
              <a:t> Server</a:t>
            </a:r>
          </a:p>
        </p:txBody>
      </p:sp>
      <p:sp>
        <p:nvSpPr>
          <p:cNvPr id="12" name="TextBox 14">
            <a:extLst>
              <a:ext uri="{FF2B5EF4-FFF2-40B4-BE49-F238E27FC236}">
                <a16:creationId xmlns:a16="http://schemas.microsoft.com/office/drawing/2014/main" id="{6A9DB390-7619-4487-8023-E9E5925CBC35}"/>
              </a:ext>
            </a:extLst>
          </p:cNvPr>
          <p:cNvSpPr txBox="1"/>
          <p:nvPr/>
        </p:nvSpPr>
        <p:spPr>
          <a:xfrm>
            <a:off x="10116871" y="4829292"/>
            <a:ext cx="1562102" cy="538609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600" b="1" dirty="0" err="1">
                <a:solidFill>
                  <a:schemeClr val="bg1">
                    <a:lumMod val="50000"/>
                  </a:schemeClr>
                </a:solidFill>
              </a:rPr>
              <a:t>Busines</a:t>
            </a:r>
            <a:r>
              <a:rPr lang="es-ES" sz="16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1600" b="1" dirty="0" err="1">
                <a:solidFill>
                  <a:schemeClr val="bg1">
                    <a:lumMod val="50000"/>
                  </a:schemeClr>
                </a:solidFill>
              </a:rPr>
              <a:t>Logic</a:t>
            </a:r>
            <a:r>
              <a:rPr lang="es-ES" sz="16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1600" b="1" dirty="0" err="1">
                <a:solidFill>
                  <a:schemeClr val="bg1">
                    <a:lumMod val="50000"/>
                  </a:schemeClr>
                </a:solidFill>
              </a:rPr>
              <a:t>Persistence</a:t>
            </a:r>
            <a:endParaRPr lang="es-ES" sz="1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399A1D-79FE-40B4-9698-175CD4CE225D}"/>
              </a:ext>
            </a:extLst>
          </p:cNvPr>
          <p:cNvSpPr/>
          <p:nvPr/>
        </p:nvSpPr>
        <p:spPr>
          <a:xfrm>
            <a:off x="8380563" y="2660061"/>
            <a:ext cx="1320800" cy="19177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 sz="1600" dirty="0"/>
          </a:p>
        </p:txBody>
      </p:sp>
      <p:sp>
        <p:nvSpPr>
          <p:cNvPr id="14" name="TextBox 16">
            <a:extLst>
              <a:ext uri="{FF2B5EF4-FFF2-40B4-BE49-F238E27FC236}">
                <a16:creationId xmlns:a16="http://schemas.microsoft.com/office/drawing/2014/main" id="{2198312F-9DFB-4951-BEC2-636FA7736052}"/>
              </a:ext>
            </a:extLst>
          </p:cNvPr>
          <p:cNvSpPr txBox="1"/>
          <p:nvPr/>
        </p:nvSpPr>
        <p:spPr>
          <a:xfrm>
            <a:off x="8910996" y="2786724"/>
            <a:ext cx="511593" cy="292388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600" b="1" dirty="0"/>
              <a:t>UI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9D2781-B6FC-4054-A22E-69D7BF737931}"/>
              </a:ext>
            </a:extLst>
          </p:cNvPr>
          <p:cNvSpPr/>
          <p:nvPr/>
        </p:nvSpPr>
        <p:spPr>
          <a:xfrm>
            <a:off x="9701363" y="3587161"/>
            <a:ext cx="254000" cy="6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 sz="16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9AA9E48-4F0C-41E3-AEE8-99B3A1C24725}"/>
              </a:ext>
            </a:extLst>
          </p:cNvPr>
          <p:cNvSpPr/>
          <p:nvPr/>
        </p:nvSpPr>
        <p:spPr>
          <a:xfrm>
            <a:off x="404963" y="6151971"/>
            <a:ext cx="1397000" cy="36219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b="1" dirty="0">
                <a:solidFill>
                  <a:schemeClr val="tx1"/>
                </a:solidFill>
              </a:rPr>
              <a:t>Mi App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6B6EF9A-46CD-4D1F-8D75-A01339BCA7DB}"/>
              </a:ext>
            </a:extLst>
          </p:cNvPr>
          <p:cNvSpPr/>
          <p:nvPr/>
        </p:nvSpPr>
        <p:spPr>
          <a:xfrm rot="10800000" flipV="1">
            <a:off x="2526269" y="6151971"/>
            <a:ext cx="1441450" cy="362199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b="1" dirty="0"/>
              <a:t>Opcionales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97CC15-AA81-4870-9B5A-C678060E3B5A}"/>
              </a:ext>
            </a:extLst>
          </p:cNvPr>
          <p:cNvSpPr/>
          <p:nvPr/>
        </p:nvSpPr>
        <p:spPr>
          <a:xfrm>
            <a:off x="5084913" y="2610330"/>
            <a:ext cx="3168650" cy="19433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 sz="16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1EE05C-665D-4BB4-9849-EAFFB564F7CF}"/>
              </a:ext>
            </a:extLst>
          </p:cNvPr>
          <p:cNvSpPr/>
          <p:nvPr/>
        </p:nvSpPr>
        <p:spPr>
          <a:xfrm>
            <a:off x="8253563" y="3587161"/>
            <a:ext cx="254000" cy="6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 sz="1600" dirty="0"/>
          </a:p>
        </p:txBody>
      </p:sp>
      <p:sp>
        <p:nvSpPr>
          <p:cNvPr id="20" name="TextBox 25">
            <a:extLst>
              <a:ext uri="{FF2B5EF4-FFF2-40B4-BE49-F238E27FC236}">
                <a16:creationId xmlns:a16="http://schemas.microsoft.com/office/drawing/2014/main" id="{AE3FDE9B-50C5-4763-B40C-1E2C180E637E}"/>
              </a:ext>
            </a:extLst>
          </p:cNvPr>
          <p:cNvSpPr txBox="1"/>
          <p:nvPr/>
        </p:nvSpPr>
        <p:spPr>
          <a:xfrm>
            <a:off x="6119963" y="2785200"/>
            <a:ext cx="1816100" cy="384721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200" b="1" dirty="0" err="1">
                <a:solidFill>
                  <a:srgbClr val="00F3FF"/>
                </a:solidFill>
              </a:rPr>
              <a:t>Components</a:t>
            </a:r>
            <a:endParaRPr lang="es-ES" sz="2200" b="1" dirty="0">
              <a:solidFill>
                <a:srgbClr val="00F3FF"/>
              </a:solidFill>
            </a:endParaRPr>
          </a:p>
        </p:txBody>
      </p:sp>
      <p:sp>
        <p:nvSpPr>
          <p:cNvPr id="21" name="TextBox 26">
            <a:extLst>
              <a:ext uri="{FF2B5EF4-FFF2-40B4-BE49-F238E27FC236}">
                <a16:creationId xmlns:a16="http://schemas.microsoft.com/office/drawing/2014/main" id="{B4EC12F0-A3B0-4FEB-988C-2D53A0BA2DA3}"/>
              </a:ext>
            </a:extLst>
          </p:cNvPr>
          <p:cNvSpPr txBox="1"/>
          <p:nvPr/>
        </p:nvSpPr>
        <p:spPr>
          <a:xfrm>
            <a:off x="6285063" y="3270057"/>
            <a:ext cx="1562102" cy="292388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600" b="1" dirty="0" err="1">
                <a:solidFill>
                  <a:schemeClr val="bg1">
                    <a:lumMod val="50000"/>
                  </a:schemeClr>
                </a:solidFill>
              </a:rPr>
              <a:t>Servlet</a:t>
            </a:r>
            <a:r>
              <a:rPr lang="es-ES" sz="1600" b="1" dirty="0">
                <a:solidFill>
                  <a:schemeClr val="bg1">
                    <a:lumMod val="50000"/>
                  </a:schemeClr>
                </a:solidFill>
              </a:rPr>
              <a:t> /</a:t>
            </a:r>
            <a:r>
              <a:rPr lang="es-ES" sz="1600" b="1" dirty="0" err="1">
                <a:solidFill>
                  <a:schemeClr val="bg1">
                    <a:lumMod val="50000"/>
                  </a:schemeClr>
                </a:solidFill>
              </a:rPr>
              <a:t>Porlet</a:t>
            </a:r>
            <a:endParaRPr lang="es-ES" sz="1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7AB7BA-7414-410B-88F4-DBAF60B1559B}"/>
              </a:ext>
            </a:extLst>
          </p:cNvPr>
          <p:cNvSpPr/>
          <p:nvPr/>
        </p:nvSpPr>
        <p:spPr>
          <a:xfrm>
            <a:off x="5234826" y="3727546"/>
            <a:ext cx="1300374" cy="6985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b="1" dirty="0" err="1"/>
              <a:t>Add-ons</a:t>
            </a:r>
            <a:endParaRPr lang="es-ES" sz="1600" b="1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7C4BAE-BDD5-4301-8DBA-F7F91A567EBD}"/>
              </a:ext>
            </a:extLst>
          </p:cNvPr>
          <p:cNvSpPr/>
          <p:nvPr/>
        </p:nvSpPr>
        <p:spPr>
          <a:xfrm>
            <a:off x="6800789" y="3727546"/>
            <a:ext cx="1300374" cy="6985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b="1" dirty="0" err="1"/>
              <a:t>Custom</a:t>
            </a:r>
            <a:endParaRPr lang="es-ES" sz="1600" b="1" dirty="0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FFB16F20-40D0-45AA-BBC3-CFA2C39CE1F6}"/>
              </a:ext>
            </a:extLst>
          </p:cNvPr>
          <p:cNvSpPr/>
          <p:nvPr/>
        </p:nvSpPr>
        <p:spPr>
          <a:xfrm>
            <a:off x="5084912" y="2772990"/>
            <a:ext cx="584938" cy="267085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 sz="16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3D7B0BF-646B-4295-9679-1E0361368D53}"/>
              </a:ext>
            </a:extLst>
          </p:cNvPr>
          <p:cNvSpPr/>
          <p:nvPr/>
        </p:nvSpPr>
        <p:spPr>
          <a:xfrm>
            <a:off x="6827582" y="6149170"/>
            <a:ext cx="1425981" cy="365000"/>
          </a:xfrm>
          <a:prstGeom prst="roundRect">
            <a:avLst/>
          </a:prstGeom>
          <a:solidFill>
            <a:srgbClr val="FFB6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b="1" dirty="0"/>
              <a:t>3rd </a:t>
            </a:r>
            <a:r>
              <a:rPr lang="es-ES" sz="1600" b="1" dirty="0" err="1"/>
              <a:t>Party</a:t>
            </a:r>
            <a:endParaRPr lang="es-ES" sz="1600" b="1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B6DC2B9-C090-4279-9F33-98D008AE35CE}"/>
              </a:ext>
            </a:extLst>
          </p:cNvPr>
          <p:cNvSpPr/>
          <p:nvPr/>
        </p:nvSpPr>
        <p:spPr>
          <a:xfrm>
            <a:off x="4710263" y="6149170"/>
            <a:ext cx="1409700" cy="365000"/>
          </a:xfrm>
          <a:prstGeom prst="roundRect">
            <a:avLst/>
          </a:prstGeom>
          <a:solidFill>
            <a:schemeClr val="tx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b="1" dirty="0">
                <a:solidFill>
                  <a:srgbClr val="00F3FF"/>
                </a:solidFill>
              </a:rPr>
              <a:t>Vaadin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DD3D3B-7FB5-4B99-93FE-1ED6C203F923}"/>
              </a:ext>
            </a:extLst>
          </p:cNvPr>
          <p:cNvSpPr/>
          <p:nvPr/>
        </p:nvSpPr>
        <p:spPr>
          <a:xfrm>
            <a:off x="1533933" y="2611718"/>
            <a:ext cx="3023929" cy="19433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 sz="1600" dirty="0"/>
          </a:p>
        </p:txBody>
      </p:sp>
      <p:sp>
        <p:nvSpPr>
          <p:cNvPr id="28" name="TextBox 34">
            <a:extLst>
              <a:ext uri="{FF2B5EF4-FFF2-40B4-BE49-F238E27FC236}">
                <a16:creationId xmlns:a16="http://schemas.microsoft.com/office/drawing/2014/main" id="{ABCA838D-85CB-4FD3-920D-3C64B3ECD724}"/>
              </a:ext>
            </a:extLst>
          </p:cNvPr>
          <p:cNvSpPr txBox="1"/>
          <p:nvPr/>
        </p:nvSpPr>
        <p:spPr>
          <a:xfrm>
            <a:off x="1801962" y="2795402"/>
            <a:ext cx="1816100" cy="384721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200" b="1" dirty="0">
                <a:solidFill>
                  <a:srgbClr val="00F3FF"/>
                </a:solidFill>
              </a:rPr>
              <a:t>Widgets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FE3BB51-1C54-4721-A46B-251F3206FBDE}"/>
              </a:ext>
            </a:extLst>
          </p:cNvPr>
          <p:cNvSpPr/>
          <p:nvPr/>
        </p:nvSpPr>
        <p:spPr>
          <a:xfrm>
            <a:off x="1801962" y="3704891"/>
            <a:ext cx="1141620" cy="6985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b="1" dirty="0" err="1"/>
              <a:t>Add-ons</a:t>
            </a:r>
            <a:endParaRPr lang="es-ES" sz="1600" b="1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879536F-1DA1-4937-9734-F0B5F80D98F7}"/>
              </a:ext>
            </a:extLst>
          </p:cNvPr>
          <p:cNvSpPr/>
          <p:nvPr/>
        </p:nvSpPr>
        <p:spPr>
          <a:xfrm>
            <a:off x="3262463" y="3704891"/>
            <a:ext cx="1143000" cy="6985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b="1" dirty="0" err="1"/>
              <a:t>Custom</a:t>
            </a:r>
            <a:endParaRPr lang="es-ES" sz="1600" b="1" dirty="0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37BB212F-5C68-4944-9D4C-CDD4A605165D}"/>
              </a:ext>
            </a:extLst>
          </p:cNvPr>
          <p:cNvSpPr/>
          <p:nvPr/>
        </p:nvSpPr>
        <p:spPr>
          <a:xfrm rot="10800000">
            <a:off x="3982450" y="2772990"/>
            <a:ext cx="584938" cy="267085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 sz="16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183113A-3484-499D-9591-36B4E7B51C1B}"/>
              </a:ext>
            </a:extLst>
          </p:cNvPr>
          <p:cNvSpPr/>
          <p:nvPr/>
        </p:nvSpPr>
        <p:spPr>
          <a:xfrm>
            <a:off x="1533717" y="4809790"/>
            <a:ext cx="3057440" cy="68677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b="1" dirty="0"/>
              <a:t>Client-</a:t>
            </a:r>
            <a:r>
              <a:rPr lang="es-ES" sz="1600" b="1" dirty="0" err="1"/>
              <a:t>Side</a:t>
            </a:r>
            <a:endParaRPr lang="es-ES" sz="1600" b="1" dirty="0"/>
          </a:p>
          <a:p>
            <a:pPr algn="ctr"/>
            <a:r>
              <a:rPr lang="es-ES" sz="1600" b="1" dirty="0"/>
              <a:t>UI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D4F9509-9D01-495A-8C5B-ABBBC2DC6033}"/>
              </a:ext>
            </a:extLst>
          </p:cNvPr>
          <p:cNvSpPr/>
          <p:nvPr/>
        </p:nvSpPr>
        <p:spPr>
          <a:xfrm rot="16200000">
            <a:off x="-501877" y="3693264"/>
            <a:ext cx="2866534" cy="74006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b="1" dirty="0" err="1"/>
              <a:t>Theme</a:t>
            </a:r>
            <a:endParaRPr lang="es-ES" sz="1600" b="1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5B4DC50-2425-405E-86C6-E5AE3F88F2B0}"/>
              </a:ext>
            </a:extLst>
          </p:cNvPr>
          <p:cNvSpPr/>
          <p:nvPr/>
        </p:nvSpPr>
        <p:spPr>
          <a:xfrm rot="16200000">
            <a:off x="2982326" y="4658383"/>
            <a:ext cx="256072" cy="4674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 sz="1600" b="1" dirty="0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3A7847E9-C3A5-4453-BCEF-AADBCE3A0666}"/>
              </a:ext>
            </a:extLst>
          </p:cNvPr>
          <p:cNvSpPr/>
          <p:nvPr/>
        </p:nvSpPr>
        <p:spPr>
          <a:xfrm rot="10800000">
            <a:off x="4031188" y="4957032"/>
            <a:ext cx="584938" cy="267085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 sz="16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A11DCBB-DFB3-4CF7-8A65-FEB40FE4CAB1}"/>
              </a:ext>
            </a:extLst>
          </p:cNvPr>
          <p:cNvSpPr/>
          <p:nvPr/>
        </p:nvSpPr>
        <p:spPr>
          <a:xfrm>
            <a:off x="5033522" y="4794417"/>
            <a:ext cx="4719232" cy="68677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b="1" dirty="0" err="1"/>
              <a:t>Service</a:t>
            </a:r>
            <a:endParaRPr lang="es-ES" sz="1600" b="1" dirty="0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F3E99001-FEE7-4CFB-B5D1-85CA4BE55D17}"/>
              </a:ext>
            </a:extLst>
          </p:cNvPr>
          <p:cNvSpPr/>
          <p:nvPr/>
        </p:nvSpPr>
        <p:spPr>
          <a:xfrm>
            <a:off x="5008553" y="4981972"/>
            <a:ext cx="597962" cy="267085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 sz="16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E271D61-B7F0-41B2-944A-1A8CAEA24B4E}"/>
              </a:ext>
            </a:extLst>
          </p:cNvPr>
          <p:cNvSpPr/>
          <p:nvPr/>
        </p:nvSpPr>
        <p:spPr>
          <a:xfrm>
            <a:off x="9536403" y="5112606"/>
            <a:ext cx="423986" cy="5039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 sz="1600" b="1" dirty="0"/>
          </a:p>
        </p:txBody>
      </p:sp>
    </p:spTree>
    <p:extLst>
      <p:ext uri="{BB962C8B-B14F-4D97-AF65-F5344CB8AC3E}">
        <p14:creationId xmlns:p14="http://schemas.microsoft.com/office/powerpoint/2010/main" val="1208545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E0985-B3DA-4994-9BE2-1A9EF84C6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comparativa</a:t>
            </a:r>
            <a:endParaRPr lang="es-E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8D21037-C322-4B4D-AB7D-FDB12B5E0CA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562544" y="2759400"/>
            <a:ext cx="6848294" cy="4098600"/>
            <a:chOff x="1995" y="1057"/>
            <a:chExt cx="3696" cy="2212"/>
          </a:xfrm>
        </p:grpSpPr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3EA645CC-B045-4818-9148-EF554DF4712C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995" y="1057"/>
              <a:ext cx="3690" cy="2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ES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BED866E-25B5-40CE-8000-5DF4ED86DE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95" y="1057"/>
              <a:ext cx="3696" cy="2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FDEC8D5-D8B3-4F6F-802D-567C5C21FB94}"/>
              </a:ext>
            </a:extLst>
          </p:cNvPr>
          <p:cNvGrpSpPr/>
          <p:nvPr/>
        </p:nvGrpSpPr>
        <p:grpSpPr>
          <a:xfrm>
            <a:off x="3103407" y="1651284"/>
            <a:ext cx="6102062" cy="1428750"/>
            <a:chOff x="3175199" y="931300"/>
            <a:chExt cx="6102062" cy="1428750"/>
          </a:xfrm>
        </p:grpSpPr>
        <p:pic>
          <p:nvPicPr>
            <p:cNvPr id="6" name="Picture 5" descr="Resultado de imagen de angular 5">
              <a:extLst>
                <a:ext uri="{FF2B5EF4-FFF2-40B4-BE49-F238E27FC236}">
                  <a16:creationId xmlns:a16="http://schemas.microsoft.com/office/drawing/2014/main" id="{1C492F69-75A5-4E2A-A15F-2430C70FEF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19761" y="931300"/>
              <a:ext cx="2857500" cy="1428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B816309-3D77-43C4-A12E-8B0DCD5FCD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75199" y="1392666"/>
              <a:ext cx="2086666" cy="506017"/>
            </a:xfrm>
            <a:prstGeom prst="rect">
              <a:avLst/>
            </a:prstGeom>
          </p:spPr>
        </p:pic>
        <p:pic>
          <p:nvPicPr>
            <p:cNvPr id="8" name="Picture 7" descr="Resultado de imagen de vs">
              <a:extLst>
                <a:ext uri="{FF2B5EF4-FFF2-40B4-BE49-F238E27FC236}">
                  <a16:creationId xmlns:a16="http://schemas.microsoft.com/office/drawing/2014/main" id="{9ADB1B40-1788-4B56-B812-0563062FF4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26000" y="1358683"/>
              <a:ext cx="540000" cy="5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6DAA3D6E-2A46-4BFC-A03C-3D025BE048B6}"/>
              </a:ext>
            </a:extLst>
          </p:cNvPr>
          <p:cNvSpPr/>
          <p:nvPr/>
        </p:nvSpPr>
        <p:spPr>
          <a:xfrm>
            <a:off x="263568" y="6436943"/>
            <a:ext cx="3385863" cy="276999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200" dirty="0">
                <a:hlinkClick r:id="rId6"/>
              </a:rPr>
              <a:t>http://pages.vaadin.com/vaadin-vs-angular</a:t>
            </a: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715186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E0985-B3DA-4994-9BE2-1A9EF84C6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Integración con </a:t>
            </a:r>
            <a:r>
              <a:rPr lang="es-ES_tradnl" dirty="0" err="1"/>
              <a:t>spring</a:t>
            </a:r>
            <a:endParaRPr lang="es-ES" dirty="0"/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731CEE77-C609-4ABD-8D5E-36B77CF52E5F}"/>
              </a:ext>
            </a:extLst>
          </p:cNvPr>
          <p:cNvSpPr>
            <a:spLocks noGrp="1"/>
          </p:cNvSpPr>
          <p:nvPr/>
        </p:nvSpPr>
        <p:spPr>
          <a:xfrm>
            <a:off x="376124" y="2088974"/>
            <a:ext cx="6959367" cy="4689475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>
            <a:lvl1pPr marL="55561" indent="0" algn="l" defTabSz="91437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800" b="1" kern="1200" cap="none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8461" indent="-342900">
              <a:buFont typeface="Arial" panose="020B0604020202020204" pitchFamily="34" charset="0"/>
              <a:buChar char="•"/>
            </a:pPr>
            <a:r>
              <a:rPr lang="en-US" sz="2000" dirty="0"/>
              <a:t>Los </a:t>
            </a:r>
            <a:r>
              <a:rPr lang="en-US" sz="2000" dirty="0" err="1"/>
              <a:t>objetos</a:t>
            </a:r>
            <a:r>
              <a:rPr lang="en-US" sz="2000" dirty="0"/>
              <a:t> </a:t>
            </a:r>
            <a:r>
              <a:rPr lang="en-US" sz="2000" dirty="0" err="1"/>
              <a:t>deben</a:t>
            </a:r>
            <a:r>
              <a:rPr lang="en-US" sz="2000" dirty="0"/>
              <a:t> </a:t>
            </a:r>
            <a:r>
              <a:rPr lang="en-US" sz="2000" dirty="0" err="1"/>
              <a:t>ser</a:t>
            </a:r>
            <a:r>
              <a:rPr lang="en-US" sz="2000" dirty="0"/>
              <a:t> </a:t>
            </a:r>
            <a:r>
              <a:rPr lang="en-US" sz="2000" dirty="0" err="1"/>
              <a:t>inyectados</a:t>
            </a:r>
            <a:r>
              <a:rPr lang="en-US" sz="2000" dirty="0"/>
              <a:t> y </a:t>
            </a:r>
            <a:r>
              <a:rPr lang="es-ES" sz="2000" dirty="0"/>
              <a:t>administrados</a:t>
            </a:r>
            <a:r>
              <a:rPr lang="en-US" sz="2000" dirty="0"/>
              <a:t> </a:t>
            </a:r>
            <a:r>
              <a:rPr lang="en-US" sz="2000" dirty="0" err="1"/>
              <a:t>por</a:t>
            </a:r>
            <a:r>
              <a:rPr lang="en-US" sz="2000" dirty="0"/>
              <a:t> Spring para </a:t>
            </a:r>
            <a:r>
              <a:rPr lang="en-US" sz="2000" dirty="0" err="1"/>
              <a:t>usar</a:t>
            </a:r>
            <a:r>
              <a:rPr lang="en-US" sz="2000" dirty="0"/>
              <a:t> </a:t>
            </a:r>
            <a:r>
              <a:rPr lang="en-US" sz="2000" dirty="0" err="1"/>
              <a:t>características</a:t>
            </a:r>
            <a:r>
              <a:rPr lang="en-US" sz="2000" dirty="0"/>
              <a:t> de Spring </a:t>
            </a:r>
          </a:p>
          <a:p>
            <a:pPr marL="398461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Autoconfiguración</a:t>
            </a:r>
            <a:r>
              <a:rPr lang="en-US" sz="2000" dirty="0"/>
              <a:t> con Spring Boot</a:t>
            </a:r>
          </a:p>
          <a:p>
            <a:pPr marL="398461" indent="-342900">
              <a:buFont typeface="Arial" panose="020B0604020202020204" pitchFamily="34" charset="0"/>
              <a:buChar char="•"/>
            </a:pPr>
            <a:r>
              <a:rPr lang="en-US" sz="2000" dirty="0"/>
              <a:t>@</a:t>
            </a:r>
            <a:r>
              <a:rPr lang="en-US" sz="2000" dirty="0" err="1"/>
              <a:t>SpringComponent</a:t>
            </a:r>
            <a:endParaRPr lang="en-US" sz="2000" dirty="0"/>
          </a:p>
          <a:p>
            <a:pPr lvl="1" indent="0">
              <a:buNone/>
            </a:pPr>
            <a:r>
              <a:rPr lang="en-US" sz="1400" b="1" dirty="0"/>
              <a:t>	Alias de </a:t>
            </a:r>
            <a:r>
              <a:rPr lang="en-US" sz="1400" b="1" dirty="0" err="1"/>
              <a:t>org.springframework.stereotype.Component</a:t>
            </a:r>
            <a:r>
              <a:rPr lang="en-US" sz="1400" b="1" dirty="0"/>
              <a:t> para </a:t>
            </a:r>
            <a:r>
              <a:rPr lang="en-US" sz="1400" b="1" dirty="0" err="1"/>
              <a:t>prevenir</a:t>
            </a:r>
            <a:r>
              <a:rPr lang="en-US" sz="1400" b="1" dirty="0"/>
              <a:t> 	</a:t>
            </a:r>
            <a:r>
              <a:rPr lang="en-US" sz="1400" b="1" dirty="0" err="1"/>
              <a:t>conflictos</a:t>
            </a:r>
            <a:r>
              <a:rPr lang="en-US" sz="1400" b="1" dirty="0"/>
              <a:t> con </a:t>
            </a:r>
            <a:r>
              <a:rPr lang="en-US" sz="1400" b="1" dirty="0" err="1"/>
              <a:t>com.vaadin.ui.Component</a:t>
            </a:r>
            <a:r>
              <a:rPr lang="en-US" sz="1400" b="1" dirty="0"/>
              <a:t>  de UI components</a:t>
            </a:r>
          </a:p>
          <a:p>
            <a:pPr marL="39846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55562" lvl="1" indent="0">
              <a:buNone/>
            </a:pPr>
            <a:endParaRPr lang="en-US" dirty="0"/>
          </a:p>
          <a:p>
            <a:pPr marL="55562" lvl="1" indent="0">
              <a:buNone/>
            </a:pPr>
            <a:endParaRPr lang="en-US" dirty="0"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EA0F6E84-ADD7-486E-BF6B-4365085E6566}"/>
              </a:ext>
            </a:extLst>
          </p:cNvPr>
          <p:cNvSpPr txBox="1"/>
          <p:nvPr/>
        </p:nvSpPr>
        <p:spPr>
          <a:xfrm>
            <a:off x="754857" y="5000095"/>
            <a:ext cx="6864226" cy="11541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4572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b="1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s-ES" b="1" dirty="0" err="1">
                <a:solidFill>
                  <a:srgbClr val="3F7F7F"/>
                </a:solidFill>
                <a:latin typeface="Consolas" panose="020B0609020204030204" pitchFamily="49" charset="0"/>
              </a:rPr>
              <a:t>dependency</a:t>
            </a:r>
            <a:r>
              <a:rPr lang="es-ES" b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s-ES" b="1" dirty="0">
                <a:solidFill>
                  <a:srgbClr val="008080"/>
                </a:solidFill>
                <a:latin typeface="Consolas" panose="020B0609020204030204" pitchFamily="49" charset="0"/>
              </a:rPr>
              <a:t>  &lt;</a:t>
            </a:r>
            <a:r>
              <a:rPr lang="es-ES" b="1" dirty="0" err="1">
                <a:solidFill>
                  <a:srgbClr val="3F7F7F"/>
                </a:solidFill>
                <a:latin typeface="Consolas" panose="020B0609020204030204" pitchFamily="49" charset="0"/>
              </a:rPr>
              <a:t>groupId</a:t>
            </a:r>
            <a:r>
              <a:rPr lang="es-ES" b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s-E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com.vaadin</a:t>
            </a:r>
            <a:r>
              <a:rPr lang="es-ES" b="1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s-ES" b="1" dirty="0" err="1">
                <a:solidFill>
                  <a:srgbClr val="3F7F7F"/>
                </a:solidFill>
                <a:latin typeface="Consolas" panose="020B0609020204030204" pitchFamily="49" charset="0"/>
              </a:rPr>
              <a:t>groupId</a:t>
            </a:r>
            <a:r>
              <a:rPr lang="es-ES" b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s-ES" b="1" dirty="0">
                <a:solidFill>
                  <a:srgbClr val="008080"/>
                </a:solidFill>
                <a:latin typeface="Consolas" panose="020B0609020204030204" pitchFamily="49" charset="0"/>
              </a:rPr>
              <a:t>  &lt;</a:t>
            </a:r>
            <a:r>
              <a:rPr lang="es-ES" b="1" dirty="0" err="1">
                <a:solidFill>
                  <a:srgbClr val="3F7F7F"/>
                </a:solidFill>
                <a:latin typeface="Consolas" panose="020B0609020204030204" pitchFamily="49" charset="0"/>
              </a:rPr>
              <a:t>artifactId</a:t>
            </a:r>
            <a:r>
              <a:rPr lang="es-ES" b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s-E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vaadin</a:t>
            </a:r>
            <a:r>
              <a:rPr lang="es-ES" b="1" dirty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es-E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spring</a:t>
            </a:r>
            <a:r>
              <a:rPr lang="es-ES" b="1" dirty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es-E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boot</a:t>
            </a:r>
            <a:r>
              <a:rPr lang="es-ES" b="1" dirty="0">
                <a:solidFill>
                  <a:srgbClr val="000000"/>
                </a:solidFill>
                <a:latin typeface="Consolas" panose="020B0609020204030204" pitchFamily="49" charset="0"/>
              </a:rPr>
              <a:t>-starter</a:t>
            </a:r>
            <a:r>
              <a:rPr lang="es-ES" b="1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s-ES" b="1" dirty="0" err="1">
                <a:solidFill>
                  <a:srgbClr val="3F7F7F"/>
                </a:solidFill>
                <a:latin typeface="Consolas" panose="020B0609020204030204" pitchFamily="49" charset="0"/>
              </a:rPr>
              <a:t>artifactId</a:t>
            </a:r>
            <a:r>
              <a:rPr lang="es-ES" b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s-ES" b="1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s-ES" b="1" dirty="0" err="1">
                <a:solidFill>
                  <a:srgbClr val="3F7F7F"/>
                </a:solidFill>
                <a:latin typeface="Consolas" panose="020B0609020204030204" pitchFamily="49" charset="0"/>
              </a:rPr>
              <a:t>dependency</a:t>
            </a:r>
            <a:r>
              <a:rPr lang="es-ES" b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s-ES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A76AF44-06EF-4434-B387-3ACC79376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1432" y="5000095"/>
            <a:ext cx="2483554" cy="13038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C3F0088-86BE-4AE3-8867-65B5573A8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1432" y="4381324"/>
            <a:ext cx="2607732" cy="6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042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E0985-B3DA-4994-9BE2-1A9EF84C6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Integración con </a:t>
            </a:r>
            <a:r>
              <a:rPr lang="es-ES_tradnl" dirty="0" err="1"/>
              <a:t>spring</a:t>
            </a:r>
            <a:endParaRPr lang="es-ES" dirty="0"/>
          </a:p>
        </p:txBody>
      </p:sp>
      <p:sp>
        <p:nvSpPr>
          <p:cNvPr id="13" name="Content Placeholder 1">
            <a:extLst>
              <a:ext uri="{FF2B5EF4-FFF2-40B4-BE49-F238E27FC236}">
                <a16:creationId xmlns:a16="http://schemas.microsoft.com/office/drawing/2014/main" id="{B30F34D1-0CAF-40E0-AFA1-09BDA8AA959F}"/>
              </a:ext>
            </a:extLst>
          </p:cNvPr>
          <p:cNvSpPr>
            <a:spLocks noGrp="1"/>
          </p:cNvSpPr>
          <p:nvPr/>
        </p:nvSpPr>
        <p:spPr>
          <a:xfrm>
            <a:off x="423149" y="2066397"/>
            <a:ext cx="5627696" cy="4689475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>
            <a:lvl1pPr marL="55561" indent="0" algn="l" defTabSz="91437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800" b="1" kern="1200" cap="none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8461" indent="-342900">
              <a:buFont typeface="Arial" panose="020B0604020202020204" pitchFamily="34" charset="0"/>
              <a:buChar char="•"/>
            </a:pPr>
            <a:r>
              <a:rPr lang="es-ES" sz="2000" dirty="0"/>
              <a:t>UI y </a:t>
            </a:r>
            <a:r>
              <a:rPr lang="es-ES" sz="2000" dirty="0" err="1"/>
              <a:t>Views</a:t>
            </a:r>
            <a:r>
              <a:rPr lang="es-ES" sz="2000" dirty="0"/>
              <a:t> son manejados como </a:t>
            </a:r>
            <a:r>
              <a:rPr lang="es-ES" sz="2000" dirty="0" err="1"/>
              <a:t>beans</a:t>
            </a:r>
            <a:r>
              <a:rPr lang="es-ES" sz="2000" dirty="0"/>
              <a:t> de Spring</a:t>
            </a:r>
            <a:endParaRPr lang="en-US" sz="2000" dirty="0"/>
          </a:p>
          <a:p>
            <a:pPr marL="398461" indent="-342900">
              <a:buFont typeface="Arial" panose="020B0604020202020204" pitchFamily="34" charset="0"/>
              <a:buChar char="•"/>
            </a:pPr>
            <a:r>
              <a:rPr lang="en-US" sz="2000" dirty="0"/>
              <a:t>@</a:t>
            </a:r>
            <a:r>
              <a:rPr lang="en-US" sz="2000" dirty="0" err="1"/>
              <a:t>SpringUI</a:t>
            </a:r>
            <a:endParaRPr lang="en-US" sz="2000" dirty="0"/>
          </a:p>
          <a:p>
            <a:pPr marL="628644" lvl="1" indent="-342900"/>
            <a:r>
              <a:rPr lang="en-US" sz="1400" b="1" dirty="0" err="1"/>
              <a:t>Incluye</a:t>
            </a:r>
            <a:r>
              <a:rPr lang="en-US" sz="1400" b="1" dirty="0"/>
              <a:t> las </a:t>
            </a:r>
            <a:r>
              <a:rPr lang="en-US" sz="1400" b="1" dirty="0" err="1"/>
              <a:t>anotaciones</a:t>
            </a:r>
            <a:r>
              <a:rPr lang="en-US" sz="1400" b="1" dirty="0"/>
              <a:t> @</a:t>
            </a:r>
            <a:r>
              <a:rPr lang="en-US" sz="1400" b="1" dirty="0" err="1"/>
              <a:t>SpringComponent</a:t>
            </a:r>
            <a:r>
              <a:rPr lang="en-US" sz="1400" b="1" dirty="0"/>
              <a:t> y @</a:t>
            </a:r>
            <a:r>
              <a:rPr lang="en-US" sz="1400" b="1" dirty="0" err="1"/>
              <a:t>UIScope</a:t>
            </a:r>
            <a:endParaRPr lang="en-US" sz="1400" dirty="0"/>
          </a:p>
          <a:p>
            <a:pPr marL="398461" indent="-342900">
              <a:buFont typeface="Arial" panose="020B0604020202020204" pitchFamily="34" charset="0"/>
              <a:buChar char="•"/>
            </a:pPr>
            <a:r>
              <a:rPr lang="en-US" sz="2000" dirty="0"/>
              <a:t>@</a:t>
            </a:r>
            <a:r>
              <a:rPr lang="en-US" sz="2000" dirty="0" err="1"/>
              <a:t>SpringView</a:t>
            </a:r>
            <a:endParaRPr lang="en-US" sz="2000" dirty="0"/>
          </a:p>
          <a:p>
            <a:pPr marL="628644" lvl="1" indent="-342900"/>
            <a:r>
              <a:rPr lang="en-US" sz="1400" b="1" dirty="0" err="1"/>
              <a:t>Implementa</a:t>
            </a:r>
            <a:r>
              <a:rPr lang="en-US" sz="1400" b="1" dirty="0"/>
              <a:t> la </a:t>
            </a:r>
            <a:r>
              <a:rPr lang="en-US" sz="1400" b="1" dirty="0" err="1"/>
              <a:t>interfaz</a:t>
            </a:r>
            <a:r>
              <a:rPr lang="en-US" sz="1400" b="1" dirty="0"/>
              <a:t> </a:t>
            </a:r>
            <a:r>
              <a:rPr lang="en-US" sz="1400" b="1" dirty="0" err="1"/>
              <a:t>com.vaadin.navigator.View</a:t>
            </a:r>
            <a:endParaRPr lang="en-US" sz="1400" b="1" dirty="0"/>
          </a:p>
          <a:p>
            <a:pPr marL="628644" lvl="1" indent="-342900"/>
            <a:r>
              <a:rPr lang="en-US" sz="1400" b="1" dirty="0" err="1"/>
              <a:t>Registro</a:t>
            </a:r>
            <a:r>
              <a:rPr lang="en-US" sz="1400" b="1" dirty="0"/>
              <a:t> </a:t>
            </a:r>
            <a:r>
              <a:rPr lang="en-US" sz="1400" b="1" dirty="0" err="1"/>
              <a:t>automático</a:t>
            </a:r>
            <a:r>
              <a:rPr lang="en-US" sz="1400" b="1" dirty="0"/>
              <a:t> </a:t>
            </a:r>
            <a:r>
              <a:rPr lang="en-US" sz="1400" b="1" dirty="0" err="1"/>
              <a:t>en</a:t>
            </a:r>
            <a:r>
              <a:rPr lang="en-US" sz="1400" b="1" dirty="0"/>
              <a:t> </a:t>
            </a:r>
            <a:r>
              <a:rPr lang="en-US" sz="1400" b="1" dirty="0" err="1"/>
              <a:t>SpringViewProvider</a:t>
            </a:r>
            <a:endParaRPr lang="en-US" sz="1400" b="1" dirty="0"/>
          </a:p>
          <a:p>
            <a:pPr marL="628644" lvl="1" indent="-342900"/>
            <a:r>
              <a:rPr lang="en-US" sz="1400" b="1" dirty="0" err="1"/>
              <a:t>Parámetro</a:t>
            </a:r>
            <a:r>
              <a:rPr lang="en-US" sz="1400" b="1" dirty="0"/>
              <a:t> name </a:t>
            </a:r>
            <a:r>
              <a:rPr lang="en-US" sz="1400" b="1" dirty="0" err="1"/>
              <a:t>indica</a:t>
            </a:r>
            <a:r>
              <a:rPr lang="en-US" sz="1400" b="1" dirty="0"/>
              <a:t> </a:t>
            </a:r>
            <a:r>
              <a:rPr lang="en-US" sz="1400" b="1" dirty="0" err="1"/>
              <a:t>explícitamente</a:t>
            </a:r>
            <a:r>
              <a:rPr lang="en-US" sz="1400" b="1" dirty="0"/>
              <a:t> el </a:t>
            </a:r>
            <a:r>
              <a:rPr lang="es-ES" sz="1400" b="1" dirty="0"/>
              <a:t>fragmento URI</a:t>
            </a:r>
          </a:p>
          <a:p>
            <a:pPr marL="398461" indent="-342900">
              <a:buFont typeface="Arial" panose="020B0604020202020204" pitchFamily="34" charset="0"/>
              <a:buChar char="•"/>
            </a:pPr>
            <a:r>
              <a:rPr lang="en-US" sz="2000" dirty="0"/>
              <a:t>Scopes</a:t>
            </a:r>
          </a:p>
          <a:p>
            <a:pPr marL="628644" lvl="1" indent="-342900"/>
            <a:r>
              <a:rPr lang="en-US" sz="1400" b="1" dirty="0"/>
              <a:t>@</a:t>
            </a:r>
            <a:r>
              <a:rPr lang="en-US" sz="1400" b="1" dirty="0" err="1"/>
              <a:t>UIScope</a:t>
            </a:r>
            <a:endParaRPr lang="en-US" sz="1400" b="1" dirty="0"/>
          </a:p>
          <a:p>
            <a:pPr marL="628644" lvl="1" indent="-342900"/>
            <a:r>
              <a:rPr lang="en-US" sz="1400" b="1" dirty="0"/>
              <a:t>@</a:t>
            </a:r>
            <a:r>
              <a:rPr lang="en-US" sz="1400" b="1" dirty="0" err="1"/>
              <a:t>ViewScope</a:t>
            </a:r>
            <a:endParaRPr lang="en-US" sz="1400" b="1" dirty="0"/>
          </a:p>
          <a:p>
            <a:pPr marL="628644" lvl="1" indent="-342900"/>
            <a:r>
              <a:rPr lang="en-US" sz="1400" b="1" dirty="0"/>
              <a:t>@</a:t>
            </a:r>
            <a:r>
              <a:rPr lang="en-US" sz="1400" b="1" dirty="0" err="1"/>
              <a:t>VaadinSessionScope</a:t>
            </a:r>
            <a:endParaRPr lang="en-US" sz="1400" b="1" dirty="0"/>
          </a:p>
          <a:p>
            <a:pPr marL="55562" lvl="1" indent="0">
              <a:buNone/>
            </a:pPr>
            <a:endParaRPr lang="en-US" dirty="0"/>
          </a:p>
          <a:p>
            <a:pPr marL="55562" lvl="1" indent="0">
              <a:buNone/>
            </a:pPr>
            <a:endParaRPr lang="en-US" dirty="0"/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F37B1B68-285C-4A04-BD28-56A3DE3C11A5}"/>
              </a:ext>
            </a:extLst>
          </p:cNvPr>
          <p:cNvSpPr>
            <a:spLocks noGrp="1"/>
          </p:cNvSpPr>
          <p:nvPr/>
        </p:nvSpPr>
        <p:spPr>
          <a:xfrm>
            <a:off x="6784622" y="2066397"/>
            <a:ext cx="5142090" cy="4526314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>
            <a:lvl1pPr marL="55561" indent="0" algn="l" defTabSz="91437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800" b="1" kern="1200" cap="none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8461" indent="-342900">
              <a:buFont typeface="Arial" panose="020B0604020202020204" pitchFamily="34" charset="0"/>
              <a:buChar char="•"/>
            </a:pPr>
            <a:r>
              <a:rPr lang="en-US" sz="2000" dirty="0"/>
              <a:t>Navigator</a:t>
            </a:r>
          </a:p>
          <a:p>
            <a:pPr marL="628644" lvl="1" indent="-342900"/>
            <a:r>
              <a:rPr lang="en-US" sz="1400" b="1" dirty="0" err="1"/>
              <a:t>Permite</a:t>
            </a:r>
            <a:r>
              <a:rPr lang="en-US" sz="1400" b="1" dirty="0"/>
              <a:t> </a:t>
            </a:r>
            <a:r>
              <a:rPr lang="en-US" sz="1400" b="1" dirty="0" err="1"/>
              <a:t>cambiar</a:t>
            </a:r>
            <a:r>
              <a:rPr lang="en-US" sz="1400" b="1" dirty="0"/>
              <a:t> de vistas </a:t>
            </a:r>
            <a:r>
              <a:rPr lang="en-US" sz="1400" b="1" dirty="0" err="1"/>
              <a:t>basado</a:t>
            </a:r>
            <a:r>
              <a:rPr lang="en-US" sz="1400" b="1" dirty="0"/>
              <a:t> </a:t>
            </a:r>
            <a:r>
              <a:rPr lang="en-US" sz="1400" b="1" dirty="0" err="1"/>
              <a:t>en</a:t>
            </a:r>
            <a:r>
              <a:rPr lang="en-US" sz="1400" b="1" dirty="0"/>
              <a:t> </a:t>
            </a:r>
            <a:r>
              <a:rPr lang="en-US" sz="1400" b="1" dirty="0" err="1"/>
              <a:t>fragmentos</a:t>
            </a:r>
            <a:r>
              <a:rPr lang="en-US" sz="1400" b="1" dirty="0"/>
              <a:t> de URI</a:t>
            </a:r>
          </a:p>
          <a:p>
            <a:pPr marL="628644" lvl="1" indent="-342900"/>
            <a:r>
              <a:rPr lang="en-US" sz="1400" b="1" dirty="0"/>
              <a:t>Vistas </a:t>
            </a:r>
            <a:r>
              <a:rPr lang="en-US" sz="1400" b="1" dirty="0" err="1"/>
              <a:t>puedes</a:t>
            </a:r>
            <a:r>
              <a:rPr lang="en-US" sz="1400" b="1" dirty="0"/>
              <a:t> </a:t>
            </a:r>
            <a:r>
              <a:rPr lang="en-US" sz="1400" b="1" dirty="0" err="1"/>
              <a:t>ser</a:t>
            </a:r>
            <a:r>
              <a:rPr lang="en-US" sz="1400" b="1" dirty="0"/>
              <a:t> </a:t>
            </a:r>
            <a:r>
              <a:rPr lang="en-US" sz="1400" b="1" dirty="0" err="1"/>
              <a:t>registradas</a:t>
            </a:r>
            <a:r>
              <a:rPr lang="en-US" sz="1400" b="1" dirty="0"/>
              <a:t> </a:t>
            </a:r>
            <a:r>
              <a:rPr lang="en-US" sz="1400" b="1" dirty="0" err="1"/>
              <a:t>programáticamente</a:t>
            </a:r>
            <a:r>
              <a:rPr lang="en-US" sz="1400" b="1" dirty="0"/>
              <a:t> o  </a:t>
            </a:r>
            <a:r>
              <a:rPr lang="en-US" sz="1400" b="1" dirty="0" err="1"/>
              <a:t>automáticamente</a:t>
            </a:r>
            <a:r>
              <a:rPr lang="en-US" sz="1400" b="1" dirty="0"/>
              <a:t> </a:t>
            </a:r>
            <a:r>
              <a:rPr lang="en-US" sz="1400" b="1" dirty="0" err="1"/>
              <a:t>mediante</a:t>
            </a:r>
            <a:r>
              <a:rPr lang="en-US" sz="1400" b="1" dirty="0"/>
              <a:t> </a:t>
            </a:r>
            <a:r>
              <a:rPr lang="en-US" sz="1400" b="1" dirty="0" err="1"/>
              <a:t>SpringProvider</a:t>
            </a:r>
            <a:r>
              <a:rPr lang="en-US" sz="1400" b="1" dirty="0"/>
              <a:t>.</a:t>
            </a:r>
          </a:p>
          <a:p>
            <a:pPr marL="55562" lvl="1" indent="0">
              <a:buNone/>
            </a:pPr>
            <a:endParaRPr lang="en-US" dirty="0"/>
          </a:p>
          <a:p>
            <a:pPr marL="55562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567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E0985-B3DA-4994-9BE2-1A9EF84C6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Trabajando con datos - </a:t>
            </a:r>
            <a:r>
              <a:rPr lang="es-ES_tradnl" dirty="0" err="1"/>
              <a:t>binders</a:t>
            </a:r>
            <a:endParaRPr lang="es-ES" dirty="0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5077661A-D2FF-41B5-8866-3DA17FE12BAC}"/>
              </a:ext>
            </a:extLst>
          </p:cNvPr>
          <p:cNvSpPr>
            <a:spLocks noGrp="1"/>
          </p:cNvSpPr>
          <p:nvPr/>
        </p:nvSpPr>
        <p:spPr>
          <a:xfrm>
            <a:off x="581192" y="2066396"/>
            <a:ext cx="9808030" cy="4689475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>
            <a:lvl1pPr marL="55561" indent="0" algn="l" defTabSz="91437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800" b="1" kern="1200" cap="none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8461" indent="-342900">
              <a:buFont typeface="Arial" panose="020B0604020202020204" pitchFamily="34" charset="0"/>
              <a:buChar char="•"/>
            </a:pPr>
            <a:r>
              <a:rPr lang="en-US" sz="2000" dirty="0"/>
              <a:t>Binder&lt;T&gt; </a:t>
            </a:r>
            <a:r>
              <a:rPr lang="en-US" sz="2000" dirty="0">
                <a:solidFill>
                  <a:srgbClr val="00F3FF"/>
                </a:solidFill>
                <a:sym typeface="Wingdings" panose="05000000000000000000" pitchFamily="2" charset="2"/>
              </a:rPr>
              <a:t> </a:t>
            </a:r>
            <a:r>
              <a:rPr lang="en-US" sz="2000" dirty="0" err="1"/>
              <a:t>Conecta</a:t>
            </a:r>
            <a:r>
              <a:rPr lang="en-US" sz="2000" dirty="0"/>
              <a:t> </a:t>
            </a:r>
            <a:r>
              <a:rPr lang="en-US" sz="2000" dirty="0" err="1"/>
              <a:t>propiedades</a:t>
            </a:r>
            <a:r>
              <a:rPr lang="en-US" sz="2000" dirty="0"/>
              <a:t> del bean a </a:t>
            </a:r>
            <a:r>
              <a:rPr lang="en-US" sz="2000" dirty="0" err="1"/>
              <a:t>componentes</a:t>
            </a:r>
            <a:r>
              <a:rPr lang="en-US" sz="2000" dirty="0"/>
              <a:t> de UI </a:t>
            </a:r>
          </a:p>
          <a:p>
            <a:pPr marL="398461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Relación</a:t>
            </a:r>
            <a:r>
              <a:rPr lang="en-US" sz="2000" dirty="0"/>
              <a:t> </a:t>
            </a:r>
            <a:r>
              <a:rPr lang="en-US" sz="2000" dirty="0" err="1"/>
              <a:t>bidireccional</a:t>
            </a:r>
            <a:r>
              <a:rPr lang="en-US" sz="2000" dirty="0"/>
              <a:t> entre </a:t>
            </a:r>
            <a:r>
              <a:rPr lang="en-US" sz="2000" dirty="0" err="1"/>
              <a:t>componentes</a:t>
            </a:r>
            <a:r>
              <a:rPr lang="en-US" sz="2000" dirty="0"/>
              <a:t> y bean</a:t>
            </a:r>
          </a:p>
          <a:p>
            <a:pPr marL="398461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ReadBean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F3FF"/>
                </a:solidFill>
                <a:sym typeface="Wingdings" panose="05000000000000000000" pitchFamily="2" charset="2"/>
              </a:rPr>
              <a:t> </a:t>
            </a:r>
            <a:r>
              <a:rPr lang="en-US" sz="2000" dirty="0" err="1"/>
              <a:t>bindea</a:t>
            </a:r>
            <a:r>
              <a:rPr lang="en-US" sz="2000" dirty="0"/>
              <a:t> las </a:t>
            </a:r>
            <a:r>
              <a:rPr lang="en-US" sz="2000" dirty="0" err="1"/>
              <a:t>propiedades</a:t>
            </a:r>
            <a:r>
              <a:rPr lang="en-US" sz="2000" dirty="0"/>
              <a:t> del DTO </a:t>
            </a:r>
            <a:r>
              <a:rPr lang="en-US" sz="2000" dirty="0" err="1"/>
              <a:t>hacia</a:t>
            </a:r>
            <a:r>
              <a:rPr lang="en-US" sz="2000" dirty="0"/>
              <a:t> components UI</a:t>
            </a:r>
          </a:p>
          <a:p>
            <a:pPr marL="398461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WriteBean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F3FF"/>
                </a:solidFill>
                <a:sym typeface="Wingdings" panose="05000000000000000000" pitchFamily="2" charset="2"/>
              </a:rPr>
              <a:t> </a:t>
            </a:r>
            <a:r>
              <a:rPr lang="en-US" sz="2000" dirty="0" err="1"/>
              <a:t>Bindea</a:t>
            </a:r>
            <a:r>
              <a:rPr lang="en-US" sz="2000" dirty="0"/>
              <a:t> </a:t>
            </a:r>
            <a:r>
              <a:rPr lang="en-US" sz="2000" dirty="0" err="1"/>
              <a:t>los</a:t>
            </a:r>
            <a:r>
              <a:rPr lang="en-US" sz="2000" dirty="0"/>
              <a:t> </a:t>
            </a:r>
            <a:r>
              <a:rPr lang="en-US" sz="2000" dirty="0" err="1"/>
              <a:t>valores</a:t>
            </a:r>
            <a:r>
              <a:rPr lang="en-US" sz="2000" dirty="0"/>
              <a:t> de </a:t>
            </a:r>
            <a:r>
              <a:rPr lang="en-US" sz="2000" dirty="0" err="1"/>
              <a:t>los</a:t>
            </a:r>
            <a:r>
              <a:rPr lang="en-US" sz="2000" dirty="0"/>
              <a:t> components UI </a:t>
            </a:r>
            <a:r>
              <a:rPr lang="en-US" sz="2000" dirty="0" err="1"/>
              <a:t>hacia</a:t>
            </a:r>
            <a:r>
              <a:rPr lang="en-US" sz="2000" dirty="0"/>
              <a:t> el DTO</a:t>
            </a:r>
          </a:p>
          <a:p>
            <a:pPr marL="398461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SetBean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F3FF"/>
                </a:solidFill>
                <a:sym typeface="Wingdings" panose="05000000000000000000" pitchFamily="2" charset="2"/>
              </a:rPr>
              <a:t> </a:t>
            </a:r>
            <a:r>
              <a:rPr lang="en-US" sz="2000" dirty="0" err="1"/>
              <a:t>Bindea</a:t>
            </a:r>
            <a:r>
              <a:rPr lang="en-US" sz="2000" dirty="0"/>
              <a:t> </a:t>
            </a:r>
            <a:r>
              <a:rPr lang="en-US" sz="2000" dirty="0" err="1"/>
              <a:t>los</a:t>
            </a:r>
            <a:r>
              <a:rPr lang="en-US" sz="2000" dirty="0"/>
              <a:t> </a:t>
            </a:r>
            <a:r>
              <a:rPr lang="en-US" sz="2000" dirty="0" err="1"/>
              <a:t>valores</a:t>
            </a:r>
            <a:r>
              <a:rPr lang="en-US" sz="2000" dirty="0"/>
              <a:t> de </a:t>
            </a:r>
            <a:r>
              <a:rPr lang="en-US" sz="2000" dirty="0" err="1"/>
              <a:t>los</a:t>
            </a:r>
            <a:r>
              <a:rPr lang="en-US" sz="2000" dirty="0"/>
              <a:t> components UI </a:t>
            </a:r>
            <a:r>
              <a:rPr lang="en-US" sz="2000" dirty="0" err="1"/>
              <a:t>hacia</a:t>
            </a:r>
            <a:r>
              <a:rPr lang="en-US" sz="2000" dirty="0"/>
              <a:t> el DTO y </a:t>
            </a:r>
            <a:r>
              <a:rPr lang="en-US" sz="2000" dirty="0" err="1"/>
              <a:t>viceversa</a:t>
            </a:r>
            <a:endParaRPr lang="en-US" sz="2000" dirty="0"/>
          </a:p>
          <a:p>
            <a:pPr marL="39846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9846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9846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55562" lvl="1" indent="0">
              <a:buNone/>
            </a:pPr>
            <a:endParaRPr lang="en-US" dirty="0"/>
          </a:p>
          <a:p>
            <a:pPr marL="55562" lvl="1" indent="0">
              <a:buNone/>
            </a:pPr>
            <a:endParaRPr lang="en-US" dirty="0"/>
          </a:p>
        </p:txBody>
      </p:sp>
      <p:pic>
        <p:nvPicPr>
          <p:cNvPr id="10" name="Graphic 5" descr="Document">
            <a:extLst>
              <a:ext uri="{FF2B5EF4-FFF2-40B4-BE49-F238E27FC236}">
                <a16:creationId xmlns:a16="http://schemas.microsoft.com/office/drawing/2014/main" id="{671A57BA-4824-416D-8823-4688102825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68755" y="5015599"/>
            <a:ext cx="914400" cy="914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F5E9626-06BB-4F51-BD3D-1EE04B33E2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54" y="4528748"/>
            <a:ext cx="2685088" cy="1888100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242E5A3C-D7B2-46B5-B094-46E0F0F7F925}"/>
              </a:ext>
            </a:extLst>
          </p:cNvPr>
          <p:cNvSpPr/>
          <p:nvPr/>
        </p:nvSpPr>
        <p:spPr>
          <a:xfrm flipH="1">
            <a:off x="4111175" y="5640390"/>
            <a:ext cx="2088232" cy="222787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 sz="1600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44F7B9D3-4D34-4606-82E6-48FA58D621DE}"/>
              </a:ext>
            </a:extLst>
          </p:cNvPr>
          <p:cNvSpPr/>
          <p:nvPr/>
        </p:nvSpPr>
        <p:spPr>
          <a:xfrm>
            <a:off x="4112538" y="5205048"/>
            <a:ext cx="2088232" cy="260990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36252317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E0985-B3DA-4994-9BE2-1A9EF84C6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Trabajando con datos - </a:t>
            </a:r>
            <a:r>
              <a:rPr lang="es-ES_tradnl" dirty="0" err="1"/>
              <a:t>validators</a:t>
            </a:r>
            <a:endParaRPr lang="es-ES" dirty="0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5077661A-D2FF-41B5-8866-3DA17FE12BAC}"/>
              </a:ext>
            </a:extLst>
          </p:cNvPr>
          <p:cNvSpPr>
            <a:spLocks noGrp="1"/>
          </p:cNvSpPr>
          <p:nvPr/>
        </p:nvSpPr>
        <p:spPr>
          <a:xfrm>
            <a:off x="613191" y="2032894"/>
            <a:ext cx="9808030" cy="4689475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>
            <a:lvl1pPr marL="55561" indent="0" algn="l" defTabSz="91437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800" b="1" kern="1200" cap="none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8461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BeanValidatorBinder</a:t>
            </a:r>
            <a:r>
              <a:rPr lang="en-US" sz="2000" dirty="0"/>
              <a:t>&lt;T&gt; </a:t>
            </a:r>
            <a:r>
              <a:rPr lang="en-US" sz="2000" dirty="0">
                <a:solidFill>
                  <a:srgbClr val="00F3FF"/>
                </a:solidFill>
                <a:sym typeface="Wingdings" panose="05000000000000000000" pitchFamily="2" charset="2"/>
              </a:rPr>
              <a:t> </a:t>
            </a:r>
            <a:r>
              <a:rPr lang="en-US" sz="2000" dirty="0" err="1"/>
              <a:t>Extensión</a:t>
            </a:r>
            <a:r>
              <a:rPr lang="en-US" sz="2000" dirty="0"/>
              <a:t> de Binder para </a:t>
            </a:r>
            <a:r>
              <a:rPr lang="en-US" sz="2000" dirty="0" err="1"/>
              <a:t>Validaciones</a:t>
            </a:r>
            <a:endParaRPr lang="en-US" sz="2000" dirty="0"/>
          </a:p>
          <a:p>
            <a:pPr marL="398461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Amplio</a:t>
            </a:r>
            <a:r>
              <a:rPr lang="en-US" sz="2000" dirty="0"/>
              <a:t> Set de Validators </a:t>
            </a:r>
            <a:r>
              <a:rPr lang="en-US" sz="2000" dirty="0" err="1"/>
              <a:t>proporcionados</a:t>
            </a:r>
            <a:r>
              <a:rPr lang="en-US" sz="2000" dirty="0"/>
              <a:t> </a:t>
            </a:r>
            <a:r>
              <a:rPr lang="en-US" sz="2000" dirty="0" err="1"/>
              <a:t>por</a:t>
            </a:r>
            <a:r>
              <a:rPr lang="en-US" sz="2000" dirty="0"/>
              <a:t> Vaadin</a:t>
            </a:r>
          </a:p>
          <a:p>
            <a:pPr marL="398461" indent="-342900">
              <a:buFont typeface="Arial" panose="020B0604020202020204" pitchFamily="34" charset="0"/>
              <a:buChar char="•"/>
            </a:pPr>
            <a:r>
              <a:rPr lang="en-US" sz="2000" dirty="0"/>
              <a:t>Custom Validator </a:t>
            </a:r>
            <a:r>
              <a:rPr lang="en-US" sz="2000" dirty="0">
                <a:solidFill>
                  <a:srgbClr val="00F3FF"/>
                </a:solidFill>
                <a:sym typeface="Wingdings" panose="05000000000000000000" pitchFamily="2" charset="2"/>
              </a:rPr>
              <a:t> </a:t>
            </a:r>
            <a:r>
              <a:rPr lang="en-US" sz="2000" dirty="0" err="1"/>
              <a:t>interfaz</a:t>
            </a:r>
            <a:r>
              <a:rPr lang="en-US" sz="2000" dirty="0"/>
              <a:t> Validator</a:t>
            </a:r>
          </a:p>
          <a:p>
            <a:pPr marL="39846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9846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9846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9846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55562" lvl="1" indent="0">
              <a:buNone/>
            </a:pPr>
            <a:endParaRPr lang="en-US" dirty="0"/>
          </a:p>
          <a:p>
            <a:pPr marL="55562" lvl="1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27A51F-9DBE-48C0-BB7B-59EC929BD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0360" y="3457486"/>
            <a:ext cx="2698689" cy="2970432"/>
          </a:xfrm>
          <a:prstGeom prst="rect">
            <a:avLst/>
          </a:prstGeom>
        </p:spPr>
      </p:pic>
      <p:sp>
        <p:nvSpPr>
          <p:cNvPr id="7" name="TextBox 1">
            <a:extLst>
              <a:ext uri="{FF2B5EF4-FFF2-40B4-BE49-F238E27FC236}">
                <a16:creationId xmlns:a16="http://schemas.microsoft.com/office/drawing/2014/main" id="{F23197EC-1468-424F-BBDB-51465CC194DB}"/>
              </a:ext>
            </a:extLst>
          </p:cNvPr>
          <p:cNvSpPr txBox="1"/>
          <p:nvPr/>
        </p:nvSpPr>
        <p:spPr>
          <a:xfrm flipH="1">
            <a:off x="731019" y="4451447"/>
            <a:ext cx="7109341" cy="1261884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s-ES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validationBinder</a:t>
            </a:r>
            <a:r>
              <a:rPr lang="es-E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.forField</a:t>
            </a:r>
            <a:r>
              <a:rPr lang="es-E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tfEmail</a:t>
            </a:r>
            <a:r>
              <a:rPr lang="es-E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spcAft>
                <a:spcPts val="600"/>
              </a:spcAft>
            </a:pPr>
            <a:r>
              <a:rPr lang="es-E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	.</a:t>
            </a:r>
            <a:r>
              <a:rPr lang="es-E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asRequired</a:t>
            </a:r>
            <a:r>
              <a:rPr lang="es-E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MSG_CAMPO_OBLIGATORIO</a:t>
            </a:r>
            <a:r>
              <a:rPr lang="es-E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spcAft>
                <a:spcPts val="600"/>
              </a:spcAft>
            </a:pP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	.withValidator(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EmailValidator(</a:t>
            </a:r>
            <a:r>
              <a:rPr lang="pt-BR" sz="1600" b="1" dirty="0">
                <a:solidFill>
                  <a:srgbClr val="2A00FF"/>
                </a:solidFill>
                <a:latin typeface="Consolas" panose="020B0609020204030204" pitchFamily="49" charset="0"/>
              </a:rPr>
              <a:t>"email no válido"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>
              <a:spcAft>
                <a:spcPts val="600"/>
              </a:spcAft>
            </a:pPr>
            <a:r>
              <a:rPr lang="es-E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	.</a:t>
            </a:r>
            <a:r>
              <a:rPr lang="es-E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bind</a:t>
            </a:r>
            <a:r>
              <a:rPr lang="es-E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UsuarioDto</a:t>
            </a:r>
            <a:r>
              <a:rPr lang="es-E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s-E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getEmail</a:t>
            </a:r>
            <a:r>
              <a:rPr lang="es-E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UsuarioDto</a:t>
            </a:r>
            <a:r>
              <a:rPr lang="es-E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s-E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setEmail</a:t>
            </a:r>
            <a:r>
              <a:rPr lang="es-E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795868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E0985-B3DA-4994-9BE2-1A9EF84C6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Trabajando con datos - </a:t>
            </a:r>
            <a:r>
              <a:rPr lang="es-ES_tradnl" dirty="0" err="1"/>
              <a:t>converters</a:t>
            </a:r>
            <a:endParaRPr lang="es-ES" dirty="0"/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5077661A-D2FF-41B5-8866-3DA17FE12BAC}"/>
              </a:ext>
            </a:extLst>
          </p:cNvPr>
          <p:cNvSpPr>
            <a:spLocks noGrp="1"/>
          </p:cNvSpPr>
          <p:nvPr/>
        </p:nvSpPr>
        <p:spPr>
          <a:xfrm>
            <a:off x="581192" y="2168525"/>
            <a:ext cx="9926783" cy="4689475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>
            <a:lvl1pPr marL="55561" indent="0" algn="l" defTabSz="91437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800" b="1" kern="1200" cap="none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8461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Conversión</a:t>
            </a:r>
            <a:r>
              <a:rPr lang="en-US" sz="2000" dirty="0"/>
              <a:t> entre </a:t>
            </a:r>
            <a:r>
              <a:rPr lang="en-US" sz="2000" dirty="0" err="1"/>
              <a:t>los</a:t>
            </a:r>
            <a:r>
              <a:rPr lang="en-US" sz="2000" dirty="0"/>
              <a:t> </a:t>
            </a:r>
            <a:r>
              <a:rPr lang="en-US" sz="2000" dirty="0" err="1"/>
              <a:t>tipos</a:t>
            </a:r>
            <a:r>
              <a:rPr lang="en-US" sz="2000" dirty="0"/>
              <a:t> del </a:t>
            </a:r>
            <a:r>
              <a:rPr lang="en-US" sz="2000" dirty="0" err="1"/>
              <a:t>modelo</a:t>
            </a:r>
            <a:r>
              <a:rPr lang="en-US" sz="2000" dirty="0"/>
              <a:t> y </a:t>
            </a:r>
            <a:r>
              <a:rPr lang="en-US" sz="2000" dirty="0" err="1"/>
              <a:t>presentación</a:t>
            </a:r>
            <a:endParaRPr lang="en-US" sz="2000" dirty="0"/>
          </a:p>
          <a:p>
            <a:pPr marL="398461" indent="-342900">
              <a:buFont typeface="Arial" panose="020B0604020202020204" pitchFamily="34" charset="0"/>
              <a:buChar char="•"/>
            </a:pPr>
            <a:r>
              <a:rPr lang="en-US" sz="2000" dirty="0"/>
              <a:t>Set de Validators </a:t>
            </a:r>
            <a:r>
              <a:rPr lang="en-US" sz="2000" dirty="0" err="1"/>
              <a:t>proporcionados</a:t>
            </a:r>
            <a:r>
              <a:rPr lang="en-US" sz="2000" dirty="0"/>
              <a:t> </a:t>
            </a:r>
            <a:r>
              <a:rPr lang="en-US" sz="2000" dirty="0" err="1"/>
              <a:t>por</a:t>
            </a:r>
            <a:r>
              <a:rPr lang="en-US" sz="2000" dirty="0"/>
              <a:t> Vaadin</a:t>
            </a:r>
          </a:p>
          <a:p>
            <a:pPr marL="398461" indent="-342900">
              <a:buFont typeface="Arial" panose="020B0604020202020204" pitchFamily="34" charset="0"/>
              <a:buChar char="•"/>
            </a:pPr>
            <a:r>
              <a:rPr lang="en-US" sz="2000" dirty="0"/>
              <a:t>Custom Validator </a:t>
            </a:r>
            <a:r>
              <a:rPr lang="en-US" sz="2000" dirty="0">
                <a:solidFill>
                  <a:srgbClr val="00F3FF"/>
                </a:solidFill>
                <a:sym typeface="Wingdings" panose="05000000000000000000" pitchFamily="2" charset="2"/>
              </a:rPr>
              <a:t> </a:t>
            </a:r>
            <a:r>
              <a:rPr lang="en-US" sz="2000" dirty="0" err="1"/>
              <a:t>interfaz</a:t>
            </a:r>
            <a:r>
              <a:rPr lang="en-US" sz="2000" dirty="0"/>
              <a:t> </a:t>
            </a:r>
            <a:r>
              <a:rPr lang="es-ES" sz="2000" dirty="0" err="1"/>
              <a:t>Converter</a:t>
            </a:r>
            <a:r>
              <a:rPr lang="es-ES" sz="2000" dirty="0"/>
              <a:t>&lt;PRESENTATION, MODEL&gt; </a:t>
            </a:r>
            <a:endParaRPr lang="en-US" sz="2000" dirty="0"/>
          </a:p>
          <a:p>
            <a:pPr marL="39846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9846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spcAft>
                <a:spcPts val="600"/>
              </a:spcAft>
            </a:pPr>
            <a:endParaRPr lang="es-ES" sz="1300" dirty="0">
              <a:solidFill>
                <a:srgbClr val="0000C0"/>
              </a:solidFill>
              <a:latin typeface="Consolas" panose="020B0609020204030204" pitchFamily="49" charset="0"/>
            </a:endParaRPr>
          </a:p>
          <a:p>
            <a:pPr>
              <a:spcAft>
                <a:spcPts val="600"/>
              </a:spcAft>
            </a:pPr>
            <a:r>
              <a:rPr lang="es-ES" sz="1300" dirty="0">
                <a:solidFill>
                  <a:srgbClr val="0000C0"/>
                </a:solidFill>
                <a:latin typeface="Consolas" panose="020B0609020204030204" pitchFamily="49" charset="0"/>
              </a:rPr>
              <a:t>	</a:t>
            </a:r>
            <a:r>
              <a:rPr lang="es-E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binder</a:t>
            </a:r>
            <a:r>
              <a:rPr lang="es-E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.forField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tfEdad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spcAft>
                <a:spcPts val="600"/>
              </a:spcAft>
            </a:pP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		.</a:t>
            </a:r>
            <a:r>
              <a:rPr lang="es-E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withConverter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StringToIntegerConverter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sz="1600" dirty="0">
                <a:solidFill>
                  <a:srgbClr val="2A00FF"/>
                </a:solidFill>
                <a:latin typeface="Consolas" panose="020B0609020204030204" pitchFamily="49" charset="0"/>
              </a:rPr>
              <a:t>"Valor numérico no válido"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>
              <a:spcAft>
                <a:spcPts val="600"/>
              </a:spcAft>
            </a:pP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		.</a:t>
            </a:r>
            <a:r>
              <a:rPr lang="es-E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withNullRepresentation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(0)</a:t>
            </a:r>
          </a:p>
          <a:p>
            <a:pPr>
              <a:spcAft>
                <a:spcPts val="600"/>
              </a:spcAft>
            </a:pP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		.</a:t>
            </a:r>
            <a:r>
              <a:rPr lang="es-E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bind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UsuarioDto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s-E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getEdad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s-E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UsuarioDto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s-E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setEdad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1600" dirty="0">
              <a:latin typeface="Consolas" panose="020B0609020204030204" pitchFamily="49" charset="0"/>
            </a:endParaRPr>
          </a:p>
          <a:p>
            <a:pPr marL="55562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0287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E0985-B3DA-4994-9BE2-1A9EF84C6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Estilos </a:t>
            </a:r>
            <a:r>
              <a:rPr lang="es-ES_tradnl" dirty="0" err="1"/>
              <a:t>css</a:t>
            </a:r>
            <a:endParaRPr lang="es-ES" dirty="0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2F8ED447-63E4-4F8E-B0D0-DA81B0161104}"/>
              </a:ext>
            </a:extLst>
          </p:cNvPr>
          <p:cNvSpPr>
            <a:spLocks noGrp="1"/>
          </p:cNvSpPr>
          <p:nvPr/>
        </p:nvSpPr>
        <p:spPr>
          <a:xfrm>
            <a:off x="326351" y="2168525"/>
            <a:ext cx="7599219" cy="4689475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>
            <a:lvl1pPr marL="55561" indent="0" algn="l" defTabSz="91437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800" b="1" kern="1200" cap="none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8461" indent="-342900">
              <a:buFont typeface="Arial" panose="020B0604020202020204" pitchFamily="34" charset="0"/>
              <a:buChar char="•"/>
            </a:pPr>
            <a:r>
              <a:rPr lang="en-US" sz="2400" dirty="0">
                <a:sym typeface="Wingdings" panose="05000000000000000000" pitchFamily="2" charset="2"/>
              </a:rPr>
              <a:t>Sass </a:t>
            </a:r>
            <a:r>
              <a:rPr lang="en-US" sz="2400" dirty="0" err="1">
                <a:sym typeface="Wingdings" panose="05000000000000000000" pitchFamily="2" charset="2"/>
              </a:rPr>
              <a:t>soporta</a:t>
            </a:r>
            <a:r>
              <a:rPr lang="en-US" sz="2400" dirty="0">
                <a:sym typeface="Wingdings" panose="05000000000000000000" pitchFamily="2" charset="2"/>
              </a:rPr>
              <a:t> dos </a:t>
            </a:r>
            <a:r>
              <a:rPr lang="en-US" sz="2400" dirty="0" err="1">
                <a:sym typeface="Wingdings" panose="05000000000000000000" pitchFamily="2" charset="2"/>
              </a:rPr>
              <a:t>formatos</a:t>
            </a:r>
            <a:endParaRPr lang="en-US" sz="2400" dirty="0">
              <a:sym typeface="Wingdings" panose="05000000000000000000" pitchFamily="2" charset="2"/>
            </a:endParaRPr>
          </a:p>
          <a:p>
            <a:pPr marL="628644" lvl="1" indent="-342900"/>
            <a:r>
              <a:rPr lang="en-US" sz="2000" b="1" dirty="0">
                <a:sym typeface="Wingdings" panose="05000000000000000000" pitchFamily="2" charset="2"/>
              </a:rPr>
              <a:t>.</a:t>
            </a:r>
            <a:r>
              <a:rPr lang="en-US" sz="2000" b="1" dirty="0" err="1">
                <a:sym typeface="Wingdings" panose="05000000000000000000" pitchFamily="2" charset="2"/>
              </a:rPr>
              <a:t>scss</a:t>
            </a:r>
            <a:r>
              <a:rPr lang="en-US" sz="2000" b="1" dirty="0">
                <a:sym typeface="Wingdings" panose="05000000000000000000" pitchFamily="2" charset="2"/>
              </a:rPr>
              <a:t>: </a:t>
            </a:r>
            <a:r>
              <a:rPr lang="en-US" sz="2000" b="1" dirty="0" err="1">
                <a:sym typeface="Wingdings" panose="05000000000000000000" pitchFamily="2" charset="2"/>
              </a:rPr>
              <a:t>superSet</a:t>
            </a:r>
            <a:r>
              <a:rPr lang="en-US" sz="2000" b="1" dirty="0">
                <a:sym typeface="Wingdings" panose="05000000000000000000" pitchFamily="2" charset="2"/>
              </a:rPr>
              <a:t> de CSS3 </a:t>
            </a:r>
            <a:r>
              <a:rPr lang="en-US" sz="2000" b="1" dirty="0">
                <a:solidFill>
                  <a:srgbClr val="00F3FF"/>
                </a:solidFill>
                <a:sym typeface="Wingdings" panose="05000000000000000000" pitchFamily="2" charset="2"/>
              </a:rPr>
              <a:t>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Usaremos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este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formato</a:t>
            </a:r>
            <a:endParaRPr lang="en-US" sz="2000" b="1" dirty="0">
              <a:sym typeface="Wingdings" panose="05000000000000000000" pitchFamily="2" charset="2"/>
            </a:endParaRPr>
          </a:p>
          <a:p>
            <a:pPr marL="628644" lvl="1" indent="-342900"/>
            <a:r>
              <a:rPr lang="en-US" sz="2000" b="1" dirty="0">
                <a:sym typeface="Wingdings" panose="05000000000000000000" pitchFamily="2" charset="2"/>
              </a:rPr>
              <a:t>.sass: </a:t>
            </a:r>
            <a:r>
              <a:rPr lang="en-US" sz="2000" b="1" dirty="0" err="1">
                <a:sym typeface="Wingdings" panose="05000000000000000000" pitchFamily="2" charset="2"/>
              </a:rPr>
              <a:t>sintaxis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ym typeface="Wingdings" panose="05000000000000000000" pitchFamily="2" charset="2"/>
              </a:rPr>
              <a:t>antigua</a:t>
            </a:r>
            <a:r>
              <a:rPr lang="en-US" sz="2000" b="1" dirty="0">
                <a:sym typeface="Wingdings" panose="05000000000000000000" pitchFamily="2" charset="2"/>
              </a:rPr>
              <a:t> de Sass</a:t>
            </a:r>
          </a:p>
          <a:p>
            <a:pPr marL="398461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ym typeface="Wingdings" panose="05000000000000000000" pitchFamily="2" charset="2"/>
              </a:rPr>
              <a:t>Temas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propios</a:t>
            </a:r>
            <a:r>
              <a:rPr lang="en-US" sz="2400" dirty="0">
                <a:sym typeface="Wingdings" panose="05000000000000000000" pitchFamily="2" charset="2"/>
              </a:rPr>
              <a:t> se </a:t>
            </a:r>
            <a:r>
              <a:rPr lang="en-US" sz="2400" dirty="0" err="1">
                <a:sym typeface="Wingdings" panose="05000000000000000000" pitchFamily="2" charset="2"/>
              </a:rPr>
              <a:t>copian</a:t>
            </a:r>
            <a:r>
              <a:rPr lang="en-US" sz="2400" dirty="0">
                <a:sym typeface="Wingdings" panose="05000000000000000000" pitchFamily="2" charset="2"/>
              </a:rPr>
              <a:t> a  </a:t>
            </a:r>
            <a:r>
              <a:rPr lang="en-US" sz="2400" dirty="0">
                <a:solidFill>
                  <a:srgbClr val="00F3FF"/>
                </a:solidFill>
                <a:sym typeface="Wingdings" panose="05000000000000000000" pitchFamily="2" charset="2"/>
              </a:rPr>
              <a:t>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webapp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/VAADIN/themes/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myTheme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  <a:sym typeface="Wingdings" panose="05000000000000000000" pitchFamily="2" charset="2"/>
            </a:endParaRPr>
          </a:p>
          <a:p>
            <a:pPr marL="398461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ym typeface="Wingdings" panose="05000000000000000000" pitchFamily="2" charset="2"/>
              </a:rPr>
              <a:t>Cada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componente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en</a:t>
            </a:r>
            <a:r>
              <a:rPr lang="en-US" sz="2400" dirty="0">
                <a:sym typeface="Wingdings" panose="05000000000000000000" pitchFamily="2" charset="2"/>
              </a:rPr>
              <a:t> Vaadin </a:t>
            </a:r>
            <a:r>
              <a:rPr lang="en-US" sz="2400" dirty="0" err="1">
                <a:sym typeface="Wingdings" panose="05000000000000000000" pitchFamily="2" charset="2"/>
              </a:rPr>
              <a:t>tiene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su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propia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clase</a:t>
            </a:r>
            <a:r>
              <a:rPr lang="en-US" sz="2400" dirty="0">
                <a:sym typeface="Wingdings" panose="05000000000000000000" pitchFamily="2" charset="2"/>
              </a:rPr>
              <a:t> de </a:t>
            </a:r>
            <a:r>
              <a:rPr lang="en-US" sz="2400" dirty="0" err="1">
                <a:sym typeface="Wingdings" panose="05000000000000000000" pitchFamily="2" charset="2"/>
              </a:rPr>
              <a:t>estilos</a:t>
            </a:r>
            <a:endParaRPr lang="en-US" sz="2400" dirty="0">
              <a:sym typeface="Wingdings" panose="05000000000000000000" pitchFamily="2" charset="2"/>
            </a:endParaRPr>
          </a:p>
          <a:p>
            <a:pPr marL="398461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ym typeface="Wingdings" panose="05000000000000000000" pitchFamily="2" charset="2"/>
              </a:rPr>
              <a:t>Compilación</a:t>
            </a:r>
            <a:r>
              <a:rPr lang="en-US" sz="2400" dirty="0">
                <a:sym typeface="Wingdings" panose="05000000000000000000" pitchFamily="2" charset="2"/>
              </a:rPr>
              <a:t> Sass </a:t>
            </a:r>
            <a:r>
              <a:rPr lang="en-US" sz="2400" dirty="0" err="1">
                <a:sym typeface="Wingdings" panose="05000000000000000000" pitchFamily="2" charset="2"/>
              </a:rPr>
              <a:t>mediante</a:t>
            </a:r>
            <a:r>
              <a:rPr lang="en-US" sz="2400" dirty="0">
                <a:sym typeface="Wingdings" panose="05000000000000000000" pitchFamily="2" charset="2"/>
              </a:rPr>
              <a:t> plugin maven</a:t>
            </a:r>
          </a:p>
          <a:p>
            <a:pPr marL="398461" indent="-342900">
              <a:buFont typeface="Arial" panose="020B0604020202020204" pitchFamily="34" charset="0"/>
              <a:buChar char="•"/>
            </a:pPr>
            <a:r>
              <a:rPr lang="en-US" sz="2400" dirty="0"/>
              <a:t>API </a:t>
            </a:r>
            <a:r>
              <a:rPr lang="en-US" sz="2400" dirty="0" err="1"/>
              <a:t>Valo</a:t>
            </a:r>
            <a:r>
              <a:rPr lang="en-US" sz="2400" dirty="0"/>
              <a:t> Theme:</a:t>
            </a:r>
            <a:r>
              <a:rPr lang="es-ES" sz="2400" u="sng" dirty="0"/>
              <a:t> </a:t>
            </a:r>
            <a:r>
              <a:rPr lang="en-US" sz="2400" u="sng" dirty="0">
                <a:hlinkClick r:id="rId2"/>
              </a:rPr>
              <a:t>https://vaadin.com/api/valo/</a:t>
            </a:r>
            <a:endParaRPr lang="es-ES" sz="2400" dirty="0"/>
          </a:p>
          <a:p>
            <a:pPr marL="398461" indent="-342900">
              <a:buFont typeface="Arial" panose="020B0604020202020204" pitchFamily="34" charset="0"/>
              <a:buChar char="•"/>
            </a:pPr>
            <a:endParaRPr lang="en-US" sz="2400" dirty="0">
              <a:sym typeface="Wingdings" panose="05000000000000000000" pitchFamily="2" charset="2"/>
            </a:endParaRPr>
          </a:p>
          <a:p>
            <a:pPr marL="39846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55562" lvl="1" indent="0">
              <a:buNone/>
            </a:pPr>
            <a:endParaRPr lang="en-US" dirty="0"/>
          </a:p>
          <a:p>
            <a:pPr marL="55562" lvl="1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80F898-E835-4A30-8D45-26D3B19CF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5570" y="2168525"/>
            <a:ext cx="4032448" cy="1279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3970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E0985-B3DA-4994-9BE2-1A9EF84C6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addons</a:t>
            </a:r>
            <a:endParaRPr lang="es-ES" dirty="0"/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BE9BFBD5-1452-42D8-B6DC-B42B06F91F33}"/>
              </a:ext>
            </a:extLst>
          </p:cNvPr>
          <p:cNvSpPr>
            <a:spLocks noGrp="1"/>
          </p:cNvSpPr>
          <p:nvPr/>
        </p:nvSpPr>
        <p:spPr>
          <a:xfrm>
            <a:off x="581192" y="2749051"/>
            <a:ext cx="6034590" cy="3947491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>
            <a:lvl1pPr marL="55561" indent="0" algn="l" defTabSz="91437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800" b="1" kern="1200" cap="none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600" b="1" dirty="0" err="1">
                <a:latin typeface="+mj-lt"/>
              </a:rPr>
              <a:t>Visualización</a:t>
            </a:r>
            <a:r>
              <a:rPr lang="en-US" sz="1600" b="1" dirty="0">
                <a:latin typeface="+mj-lt"/>
              </a:rPr>
              <a:t> / </a:t>
            </a:r>
            <a:r>
              <a:rPr lang="en-US" sz="1600" b="1" dirty="0" err="1">
                <a:latin typeface="+mj-lt"/>
              </a:rPr>
              <a:t>ocultación</a:t>
            </a:r>
            <a:r>
              <a:rPr lang="en-US" sz="1600" b="1" dirty="0">
                <a:latin typeface="+mj-lt"/>
              </a:rPr>
              <a:t> de </a:t>
            </a:r>
            <a:r>
              <a:rPr lang="en-US" sz="1600" b="1" dirty="0" err="1">
                <a:latin typeface="+mj-lt"/>
              </a:rPr>
              <a:t>componentes</a:t>
            </a:r>
            <a:r>
              <a:rPr lang="en-US" sz="1600" b="1" dirty="0">
                <a:latin typeface="+mj-lt"/>
              </a:rPr>
              <a:t> </a:t>
            </a:r>
            <a:r>
              <a:rPr lang="en-US" sz="1600" b="1" dirty="0" err="1">
                <a:latin typeface="+mj-lt"/>
              </a:rPr>
              <a:t>según</a:t>
            </a:r>
            <a:r>
              <a:rPr lang="en-US" sz="1600" b="1" dirty="0">
                <a:latin typeface="+mj-lt"/>
              </a:rPr>
              <a:t> </a:t>
            </a:r>
            <a:r>
              <a:rPr lang="en-US" sz="1600" b="1" dirty="0" err="1">
                <a:latin typeface="+mj-lt"/>
              </a:rPr>
              <a:t>tamaño</a:t>
            </a:r>
            <a:r>
              <a:rPr lang="en-US" sz="1600" b="1" dirty="0">
                <a:latin typeface="+mj-lt"/>
              </a:rPr>
              <a:t> de </a:t>
            </a:r>
            <a:r>
              <a:rPr lang="en-US" sz="1600" b="1" dirty="0" err="1">
                <a:latin typeface="+mj-lt"/>
              </a:rPr>
              <a:t>pantalla</a:t>
            </a:r>
            <a:endParaRPr lang="en-US" sz="1600" b="1" dirty="0">
              <a:latin typeface="+mj-lt"/>
            </a:endParaRPr>
          </a:p>
          <a:p>
            <a:pPr lvl="1"/>
            <a:r>
              <a:rPr lang="en-US" sz="1600" b="1" dirty="0" err="1"/>
              <a:t>ResponsiveRow</a:t>
            </a:r>
            <a:r>
              <a:rPr lang="en-US" sz="1600" b="1" dirty="0"/>
              <a:t> son </a:t>
            </a:r>
            <a:r>
              <a:rPr lang="en-US" sz="1600" b="1" dirty="0" err="1"/>
              <a:t>creadas</a:t>
            </a:r>
            <a:r>
              <a:rPr lang="en-US" sz="1600" b="1" dirty="0"/>
              <a:t> </a:t>
            </a:r>
            <a:r>
              <a:rPr lang="en-US" sz="1600" b="1" dirty="0" err="1"/>
              <a:t>albergando</a:t>
            </a:r>
            <a:r>
              <a:rPr lang="en-US" sz="1600" b="1" dirty="0"/>
              <a:t> hasta 12 </a:t>
            </a:r>
            <a:r>
              <a:rPr lang="en-US" sz="1600" b="1" dirty="0" err="1"/>
              <a:t>columnas</a:t>
            </a:r>
            <a:endParaRPr lang="en-US" sz="1600" b="1" dirty="0"/>
          </a:p>
          <a:p>
            <a:pPr marL="398461" indent="-342900">
              <a:buFont typeface="Arial" panose="020B0604020202020204" pitchFamily="34" charset="0"/>
              <a:buChar char="•"/>
            </a:pPr>
            <a:r>
              <a:rPr lang="en-US" sz="1600" dirty="0" err="1"/>
              <a:t>Tamaños</a:t>
            </a:r>
            <a:r>
              <a:rPr lang="en-US" sz="1600" dirty="0"/>
              <a:t> </a:t>
            </a:r>
            <a:r>
              <a:rPr lang="en-US" sz="1600" dirty="0" err="1"/>
              <a:t>predefinidos</a:t>
            </a:r>
            <a:endParaRPr lang="en-US" sz="1600" dirty="0"/>
          </a:p>
          <a:p>
            <a:pPr marL="571494" lvl="1" indent="-285750"/>
            <a:r>
              <a:rPr lang="en-US" sz="1600" b="1" dirty="0" err="1"/>
              <a:t>xs</a:t>
            </a:r>
            <a:r>
              <a:rPr lang="en-US" sz="1600" b="1" dirty="0"/>
              <a:t> </a:t>
            </a:r>
            <a:r>
              <a:rPr lang="en-US" sz="1600" b="1" dirty="0">
                <a:sym typeface="Wingdings" panose="05000000000000000000" pitchFamily="2" charset="2"/>
              </a:rPr>
              <a:t> </a:t>
            </a:r>
            <a:r>
              <a:rPr lang="en-US" sz="1600" b="1" dirty="0" err="1">
                <a:sym typeface="Wingdings" panose="05000000000000000000" pitchFamily="2" charset="2"/>
              </a:rPr>
              <a:t>móviles</a:t>
            </a:r>
            <a:endParaRPr lang="en-US" sz="1600" b="1" dirty="0">
              <a:sym typeface="Wingdings" panose="05000000000000000000" pitchFamily="2" charset="2"/>
            </a:endParaRPr>
          </a:p>
          <a:p>
            <a:pPr marL="571494" lvl="1" indent="-285750"/>
            <a:r>
              <a:rPr lang="en-US" sz="1600" b="1" dirty="0" err="1">
                <a:sym typeface="Wingdings" panose="05000000000000000000" pitchFamily="2" charset="2"/>
              </a:rPr>
              <a:t>sm</a:t>
            </a:r>
            <a:r>
              <a:rPr lang="en-US" sz="1600" b="1" dirty="0">
                <a:sym typeface="Wingdings" panose="05000000000000000000" pitchFamily="2" charset="2"/>
              </a:rPr>
              <a:t>  tablets</a:t>
            </a:r>
          </a:p>
          <a:p>
            <a:pPr marL="571494" lvl="1" indent="-285750"/>
            <a:r>
              <a:rPr lang="en-US" sz="1600" b="1" dirty="0">
                <a:sym typeface="Wingdings" panose="05000000000000000000" pitchFamily="2" charset="2"/>
              </a:rPr>
              <a:t>md  </a:t>
            </a:r>
            <a:r>
              <a:rPr lang="en-US" sz="1600" b="1" dirty="0" err="1">
                <a:sym typeface="Wingdings" panose="05000000000000000000" pitchFamily="2" charset="2"/>
              </a:rPr>
              <a:t>Sobremesa</a:t>
            </a:r>
            <a:endParaRPr lang="en-US" sz="1600" b="1" dirty="0">
              <a:sym typeface="Wingdings" panose="05000000000000000000" pitchFamily="2" charset="2"/>
            </a:endParaRPr>
          </a:p>
          <a:p>
            <a:pPr marL="571494" lvl="1" indent="-285750"/>
            <a:r>
              <a:rPr lang="en-US" sz="1600" b="1" dirty="0" err="1">
                <a:sym typeface="Wingdings" panose="05000000000000000000" pitchFamily="2" charset="2"/>
              </a:rPr>
              <a:t>lg</a:t>
            </a:r>
            <a:r>
              <a:rPr lang="en-US" sz="1600" b="1" dirty="0">
                <a:sym typeface="Wingdings" panose="05000000000000000000" pitchFamily="2" charset="2"/>
              </a:rPr>
              <a:t>  </a:t>
            </a:r>
            <a:r>
              <a:rPr lang="en-US" sz="1600" b="1" dirty="0" err="1">
                <a:sym typeface="Wingdings" panose="05000000000000000000" pitchFamily="2" charset="2"/>
              </a:rPr>
              <a:t>Sobremesa</a:t>
            </a:r>
            <a:r>
              <a:rPr lang="en-US" sz="1600" b="1" dirty="0">
                <a:sym typeface="Wingdings" panose="05000000000000000000" pitchFamily="2" charset="2"/>
              </a:rPr>
              <a:t> ++</a:t>
            </a:r>
          </a:p>
          <a:p>
            <a:pPr marL="55562" lvl="1" indent="0">
              <a:buNone/>
            </a:pPr>
            <a:endParaRPr lang="en-US" dirty="0"/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08CB35C2-5ACF-48E2-8077-0AE1C0C45D31}"/>
              </a:ext>
            </a:extLst>
          </p:cNvPr>
          <p:cNvSpPr txBox="1"/>
          <p:nvPr/>
        </p:nvSpPr>
        <p:spPr>
          <a:xfrm>
            <a:off x="581192" y="6155316"/>
            <a:ext cx="7517081" cy="353943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5562" lvl="1" indent="0">
              <a:buNone/>
            </a:pPr>
            <a:r>
              <a:rPr lang="en-US" sz="2000" dirty="0">
                <a:hlinkClick r:id="rId2"/>
              </a:rPr>
              <a:t>https://vaadin.com/directory#!addon/responsive-layout</a:t>
            </a: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23F191-ADD1-402D-B848-F1EB52C9B7B5}"/>
              </a:ext>
            </a:extLst>
          </p:cNvPr>
          <p:cNvSpPr txBox="1"/>
          <p:nvPr/>
        </p:nvSpPr>
        <p:spPr>
          <a:xfrm>
            <a:off x="581192" y="2017060"/>
            <a:ext cx="30226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b="1" dirty="0" err="1">
                <a:solidFill>
                  <a:srgbClr val="00B0F0"/>
                </a:solidFill>
              </a:rPr>
              <a:t>Reponsive-Layout</a:t>
            </a:r>
            <a:endParaRPr lang="es-ES" sz="2200" b="1" dirty="0">
              <a:solidFill>
                <a:srgbClr val="00B0F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92D2EC5-EBDE-448B-8902-D689A17FB0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0" y="3655762"/>
            <a:ext cx="4762500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944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E0985-B3DA-4994-9BE2-1A9EF84C6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demo</a:t>
            </a:r>
            <a:endParaRPr lang="es-E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99C080-8685-4240-8A75-E6B2145173CF}"/>
              </a:ext>
            </a:extLst>
          </p:cNvPr>
          <p:cNvSpPr txBox="1"/>
          <p:nvPr/>
        </p:nvSpPr>
        <p:spPr>
          <a:xfrm>
            <a:off x="581192" y="2446317"/>
            <a:ext cx="515162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/>
              <a:t>App de consulta del tiempo actual</a:t>
            </a:r>
          </a:p>
          <a:p>
            <a:endParaRPr lang="es-ES" sz="2000" dirty="0"/>
          </a:p>
          <a:p>
            <a:r>
              <a:rPr lang="es-ES" sz="2000" dirty="0">
                <a:hlinkClick r:id="rId2"/>
              </a:rPr>
              <a:t>https://openweathermap.org/</a:t>
            </a:r>
            <a:endParaRPr lang="es-ES" sz="2000" dirty="0"/>
          </a:p>
          <a:p>
            <a:endParaRPr lang="es-ES" dirty="0"/>
          </a:p>
          <a:p>
            <a:r>
              <a:rPr lang="es-ES" dirty="0"/>
              <a:t>API que proporciona información general sobre el tiempo (temperatura, localización, etc...) en función de una localización.</a:t>
            </a:r>
            <a:endParaRPr lang="es-E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C0FA06-AC52-4AF9-82E3-F9C29E28DC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2812" y="2005299"/>
            <a:ext cx="5334000" cy="481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432194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1159</TotalTime>
  <Words>714</Words>
  <Application>Microsoft Office PowerPoint</Application>
  <PresentationFormat>Widescreen</PresentationFormat>
  <Paragraphs>225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Calibri</vt:lpstr>
      <vt:lpstr>Consolas</vt:lpstr>
      <vt:lpstr>Courier New</vt:lpstr>
      <vt:lpstr>Gill Sans MT</vt:lpstr>
      <vt:lpstr>Wingdings</vt:lpstr>
      <vt:lpstr>Wingdings 2</vt:lpstr>
      <vt:lpstr>Dividend</vt:lpstr>
      <vt:lpstr>DESARROLLA APLICACIONES WEB SIN USAR HTML ni JAVASCRIPT</vt:lpstr>
      <vt:lpstr>bIO</vt:lpstr>
      <vt:lpstr>Otras charlas de Accenture technology</vt:lpstr>
      <vt:lpstr>Vaadin 8</vt:lpstr>
      <vt:lpstr>ObjetIVOS</vt:lpstr>
      <vt:lpstr>¿Qué  es  Vaadin?</vt:lpstr>
      <vt:lpstr>Roadmap</vt:lpstr>
      <vt:lpstr>Ecosistema java</vt:lpstr>
      <vt:lpstr>arquitectura de aplicación</vt:lpstr>
      <vt:lpstr>arquitectura de aplicación</vt:lpstr>
      <vt:lpstr>comparativa</vt:lpstr>
      <vt:lpstr>Integración con spring</vt:lpstr>
      <vt:lpstr>Integración con spring</vt:lpstr>
      <vt:lpstr>Trabajando con datos - binders</vt:lpstr>
      <vt:lpstr>Trabajando con datos - validators</vt:lpstr>
      <vt:lpstr>Trabajando con datos - converters</vt:lpstr>
      <vt:lpstr>Estilos css</vt:lpstr>
      <vt:lpstr>addons</vt:lpstr>
      <vt:lpstr>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Integrando Machine Learning y Microservicios</dc:title>
  <dc:creator>Palma Vázquez, Julio</dc:creator>
  <cp:lastModifiedBy>Molina Jimena, Rafael</cp:lastModifiedBy>
  <cp:revision>21</cp:revision>
  <dcterms:created xsi:type="dcterms:W3CDTF">2018-05-04T09:40:47Z</dcterms:created>
  <dcterms:modified xsi:type="dcterms:W3CDTF">2018-06-01T13:59:23Z</dcterms:modified>
</cp:coreProperties>
</file>